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7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1F145D3B-0525-4FC6-84B2-6BA8B66C8AB1}" type="datetimeFigureOut">
              <a:rPr lang="es-AR" smtClean="0"/>
              <a:t>2/9/2026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AEA0FEF0-3B7F-4EC0-977E-DBBB78F51FDF}" type="slidenum">
              <a:rPr lang="es-AR" smtClean="0"/>
              <a:t>‹Nº›</a:t>
            </a:fld>
            <a:endParaRPr lang="es-AR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57349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45D3B-0525-4FC6-84B2-6BA8B66C8AB1}" type="datetimeFigureOut">
              <a:rPr lang="es-AR" smtClean="0"/>
              <a:t>2/9/2026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0FEF0-3B7F-4EC0-977E-DBBB78F51F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19647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1F145D3B-0525-4FC6-84B2-6BA8B66C8AB1}" type="datetimeFigureOut">
              <a:rPr lang="es-AR" smtClean="0"/>
              <a:t>2/9/2026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AEA0FEF0-3B7F-4EC0-977E-DBBB78F51FDF}" type="slidenum">
              <a:rPr lang="es-AR" smtClean="0"/>
              <a:t>‹Nº›</a:t>
            </a:fld>
            <a:endParaRPr lang="es-AR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8564018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45D3B-0525-4FC6-84B2-6BA8B66C8AB1}" type="datetimeFigureOut">
              <a:rPr lang="es-AR" smtClean="0"/>
              <a:t>2/9/2026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0FEF0-3B7F-4EC0-977E-DBBB78F51F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33918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45D3B-0525-4FC6-84B2-6BA8B66C8AB1}" type="datetimeFigureOut">
              <a:rPr lang="es-AR" smtClean="0"/>
              <a:t>2/9/2026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0FEF0-3B7F-4EC0-977E-DBBB78F51F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354315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45D3B-0525-4FC6-84B2-6BA8B66C8AB1}" type="datetimeFigureOut">
              <a:rPr lang="es-AR" smtClean="0"/>
              <a:t>2/9/2026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0FEF0-3B7F-4EC0-977E-DBBB78F51F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28158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45D3B-0525-4FC6-84B2-6BA8B66C8AB1}" type="datetimeFigureOut">
              <a:rPr lang="es-AR" smtClean="0"/>
              <a:t>2/9/2026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0FEF0-3B7F-4EC0-977E-DBBB78F51F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15048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1F145D3B-0525-4FC6-84B2-6BA8B66C8AB1}" type="datetimeFigureOut">
              <a:rPr lang="es-AR" smtClean="0"/>
              <a:t>2/9/2026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AEA0FEF0-3B7F-4EC0-977E-DBBB78F51FDF}" type="slidenum">
              <a:rPr lang="es-AR" smtClean="0"/>
              <a:t>‹Nº›</a:t>
            </a:fld>
            <a:endParaRPr lang="es-AR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8290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1F145D3B-0525-4FC6-84B2-6BA8B66C8AB1}" type="datetimeFigureOut">
              <a:rPr lang="es-AR" smtClean="0"/>
              <a:t>2/9/2026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AEA0FEF0-3B7F-4EC0-977E-DBBB78F51F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54636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45D3B-0525-4FC6-84B2-6BA8B66C8AB1}" type="datetimeFigureOut">
              <a:rPr lang="es-AR" smtClean="0"/>
              <a:t>2/9/2026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0FEF0-3B7F-4EC0-977E-DBBB78F51F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53867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45D3B-0525-4FC6-84B2-6BA8B66C8AB1}" type="datetimeFigureOut">
              <a:rPr lang="es-AR" smtClean="0"/>
              <a:t>2/9/2026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0FEF0-3B7F-4EC0-977E-DBBB78F51F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95120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1F145D3B-0525-4FC6-84B2-6BA8B66C8AB1}" type="datetimeFigureOut">
              <a:rPr lang="es-AR" smtClean="0"/>
              <a:t>2/9/2026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AEA0FEF0-3B7F-4EC0-977E-DBBB78F51FDF}" type="slidenum">
              <a:rPr lang="es-AR" smtClean="0"/>
              <a:t>‹Nº›</a:t>
            </a:fld>
            <a:endParaRPr lang="es-AR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79808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tupagina.com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0EDFB4-A2DB-ADD4-763A-8D4B99BD4E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AR" dirty="0" err="1"/>
              <a:t>Kotlin</a:t>
            </a:r>
            <a:endParaRPr lang="es-A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341591A-C7FC-DD37-65FB-D184445D86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AR" dirty="0"/>
              <a:t>Primeros paso</a:t>
            </a:r>
          </a:p>
        </p:txBody>
      </p:sp>
    </p:spTree>
    <p:extLst>
      <p:ext uri="{BB962C8B-B14F-4D97-AF65-F5344CB8AC3E}">
        <p14:creationId xmlns:p14="http://schemas.microsoft.com/office/powerpoint/2010/main" val="2304425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EDE220-2130-4C2D-F3EB-AD15F33EB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err="1"/>
              <a:t>WebApp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8158D5E-6350-882C-051A-CC55ADC96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2286001"/>
            <a:ext cx="10292622" cy="4189614"/>
          </a:xfrm>
        </p:spPr>
        <p:txBody>
          <a:bodyPr/>
          <a:lstStyle/>
          <a:p>
            <a:r>
              <a:rPr lang="es-AR" sz="2800" dirty="0"/>
              <a:t>Podemos hacer una web app tan simple como compleja que </a:t>
            </a:r>
            <a:r>
              <a:rPr lang="es-AR" sz="2800" dirty="0" err="1"/>
              <a:t>querramos</a:t>
            </a:r>
            <a:endParaRPr lang="es-AR" sz="2800" dirty="0"/>
          </a:p>
          <a:p>
            <a:r>
              <a:rPr lang="es-AR" sz="2800" dirty="0"/>
              <a:t>Se ejecutan en un </a:t>
            </a:r>
            <a:r>
              <a:rPr lang="es-AR" sz="2800" b="1" dirty="0" err="1"/>
              <a:t>webView</a:t>
            </a:r>
            <a:endParaRPr lang="es-AR" sz="2800" b="1" dirty="0"/>
          </a:p>
          <a:p>
            <a:r>
              <a:rPr lang="es-AR" sz="2800" dirty="0"/>
              <a:t>Puede ser simulada cargando la </a:t>
            </a:r>
            <a:r>
              <a:rPr lang="es-AR" sz="2800" dirty="0" err="1"/>
              <a:t>url</a:t>
            </a:r>
            <a:r>
              <a:rPr lang="es-AR" sz="2800" dirty="0"/>
              <a:t> de un sitio web adaptable o bien cargando todos los archivos en el celular (</a:t>
            </a:r>
            <a:r>
              <a:rPr lang="es-AR" sz="2800" dirty="0" err="1"/>
              <a:t>html</a:t>
            </a:r>
            <a:r>
              <a:rPr lang="es-AR" sz="2800" dirty="0"/>
              <a:t>, </a:t>
            </a:r>
            <a:r>
              <a:rPr lang="es-AR" sz="2800" dirty="0" err="1"/>
              <a:t>css</a:t>
            </a:r>
            <a:r>
              <a:rPr lang="es-AR" sz="2800" dirty="0"/>
              <a:t>, </a:t>
            </a:r>
            <a:r>
              <a:rPr lang="es-AR" sz="2800" dirty="0" err="1"/>
              <a:t>js</a:t>
            </a:r>
            <a:r>
              <a:rPr lang="es-AR" sz="2800" dirty="0"/>
              <a:t>, imágenes)</a:t>
            </a:r>
          </a:p>
          <a:p>
            <a:r>
              <a:rPr lang="es-AR" sz="2800" b="1" u="sng" dirty="0"/>
              <a:t>Podemos acceder a páginas reactivas</a:t>
            </a:r>
          </a:p>
          <a:p>
            <a:r>
              <a:rPr lang="es-AR" sz="2800" dirty="0"/>
              <a:t>Podemos acceder a acciones de como una app nativa por medio de </a:t>
            </a:r>
            <a:r>
              <a:rPr lang="es-AR" sz="2800" dirty="0" err="1"/>
              <a:t>javascript</a:t>
            </a:r>
            <a:r>
              <a:rPr lang="es-AR" sz="2800" dirty="0"/>
              <a:t> o un puente.  (hacer un puente es lo más nuevo nativo)</a:t>
            </a:r>
          </a:p>
        </p:txBody>
      </p:sp>
    </p:spTree>
    <p:extLst>
      <p:ext uri="{BB962C8B-B14F-4D97-AF65-F5344CB8AC3E}">
        <p14:creationId xmlns:p14="http://schemas.microsoft.com/office/powerpoint/2010/main" val="3947527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59F2CD-CD45-70C5-FD05-677365F66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La primer web app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E18BBD-6082-C7A3-09FD-DA916A5887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200151"/>
            <a:ext cx="10178322" cy="5072062"/>
          </a:xfrm>
        </p:spPr>
        <p:txBody>
          <a:bodyPr>
            <a:normAutofit fontScale="85000" lnSpcReduction="10000"/>
          </a:bodyPr>
          <a:lstStyle/>
          <a:p>
            <a:r>
              <a:rPr lang="es-AR" sz="2800" dirty="0"/>
              <a:t>En caso que la web app necesite conectarse a internet debemos dar permisos a </a:t>
            </a:r>
            <a:r>
              <a:rPr lang="es-AR" sz="2800" dirty="0" err="1"/>
              <a:t>android</a:t>
            </a:r>
            <a:r>
              <a:rPr lang="es-AR" sz="2800" dirty="0"/>
              <a:t> en el manifiesto al uso de internet (algunas pueden no necesitar conectarse) </a:t>
            </a:r>
          </a:p>
          <a:p>
            <a:pPr marL="0" indent="0">
              <a:buNone/>
            </a:pPr>
            <a:r>
              <a:rPr lang="es-AR" sz="2800" b="1" u="sng" dirty="0"/>
              <a:t>AndroidManifest.xml</a:t>
            </a:r>
          </a:p>
          <a:p>
            <a:pPr marL="0" indent="0">
              <a:buNone/>
            </a:pPr>
            <a:r>
              <a:rPr lang="fr-FR" sz="2800" b="1" dirty="0">
                <a:solidFill>
                  <a:srgbClr val="FF0000"/>
                </a:solidFill>
              </a:rPr>
              <a:t>&lt;uses-permission </a:t>
            </a:r>
            <a:r>
              <a:rPr lang="fr-FR" sz="2800" b="1" dirty="0" err="1">
                <a:solidFill>
                  <a:srgbClr val="FF0000"/>
                </a:solidFill>
              </a:rPr>
              <a:t>android:name</a:t>
            </a:r>
            <a:r>
              <a:rPr lang="fr-FR" sz="2800" b="1" dirty="0">
                <a:solidFill>
                  <a:srgbClr val="FF0000"/>
                </a:solidFill>
              </a:rPr>
              <a:t>="</a:t>
            </a:r>
            <a:r>
              <a:rPr lang="fr-FR" sz="2800" b="1" dirty="0" err="1">
                <a:solidFill>
                  <a:srgbClr val="FF0000"/>
                </a:solidFill>
              </a:rPr>
              <a:t>android.permission.INTERNET</a:t>
            </a:r>
            <a:r>
              <a:rPr lang="fr-FR" sz="2800" b="1" dirty="0">
                <a:solidFill>
                  <a:srgbClr val="FF0000"/>
                </a:solidFill>
              </a:rPr>
              <a:t>" /&gt;</a:t>
            </a:r>
          </a:p>
          <a:p>
            <a:pPr marL="0" indent="0">
              <a:buNone/>
            </a:pPr>
            <a:r>
              <a:rPr lang="fr-FR" sz="2800" dirty="0" err="1"/>
              <a:t>Ademas</a:t>
            </a:r>
            <a:r>
              <a:rPr lang="fr-FR" sz="2800" dirty="0"/>
              <a:t> </a:t>
            </a:r>
            <a:r>
              <a:rPr lang="fr-FR" sz="2800" dirty="0" err="1"/>
              <a:t>habilitar</a:t>
            </a:r>
            <a:r>
              <a:rPr lang="fr-FR" sz="2800" dirty="0"/>
              <a:t> las </a:t>
            </a:r>
            <a:r>
              <a:rPr lang="fr-FR" sz="2800" dirty="0" err="1"/>
              <a:t>conecciones</a:t>
            </a:r>
            <a:r>
              <a:rPr lang="fr-FR" sz="2800" dirty="0"/>
              <a:t> a </a:t>
            </a:r>
            <a:r>
              <a:rPr lang="fr-FR" sz="2800" dirty="0" err="1"/>
              <a:t>direcciones</a:t>
            </a:r>
            <a:r>
              <a:rPr lang="fr-FR" sz="2800" dirty="0"/>
              <a:t> no </a:t>
            </a:r>
            <a:r>
              <a:rPr lang="fr-FR" sz="2800" dirty="0" err="1"/>
              <a:t>seguras</a:t>
            </a:r>
            <a:r>
              <a:rPr lang="fr-FR" sz="2800" dirty="0"/>
              <a:t> </a:t>
            </a:r>
          </a:p>
          <a:p>
            <a:pPr marL="0" indent="0">
              <a:buNone/>
            </a:pPr>
            <a:r>
              <a:rPr lang="fr-FR" sz="2400" b="1" dirty="0">
                <a:solidFill>
                  <a:srgbClr val="0070C0"/>
                </a:solidFill>
              </a:rPr>
              <a:t>&lt;application</a:t>
            </a:r>
          </a:p>
          <a:p>
            <a:pPr marL="0" indent="0">
              <a:buNone/>
            </a:pPr>
            <a:r>
              <a:rPr lang="fr-FR" sz="2400" b="1" dirty="0">
                <a:solidFill>
                  <a:srgbClr val="0070C0"/>
                </a:solidFill>
              </a:rPr>
              <a:t>	&lt;!-- si </a:t>
            </a:r>
            <a:r>
              <a:rPr lang="fr-FR" sz="2400" b="1" dirty="0" err="1">
                <a:solidFill>
                  <a:srgbClr val="0070C0"/>
                </a:solidFill>
              </a:rPr>
              <a:t>usás</a:t>
            </a:r>
            <a:r>
              <a:rPr lang="fr-FR" sz="2400" b="1" dirty="0">
                <a:solidFill>
                  <a:srgbClr val="0070C0"/>
                </a:solidFill>
              </a:rPr>
              <a:t> http:// en </a:t>
            </a:r>
            <a:r>
              <a:rPr lang="fr-FR" sz="2400" b="1" dirty="0" err="1">
                <a:solidFill>
                  <a:srgbClr val="0070C0"/>
                </a:solidFill>
              </a:rPr>
              <a:t>vez</a:t>
            </a:r>
            <a:r>
              <a:rPr lang="fr-FR" sz="2400" b="1" dirty="0">
                <a:solidFill>
                  <a:srgbClr val="0070C0"/>
                </a:solidFill>
              </a:rPr>
              <a:t> de https:// --&gt;</a:t>
            </a:r>
          </a:p>
          <a:p>
            <a:pPr marL="0" indent="0">
              <a:buNone/>
            </a:pPr>
            <a:endParaRPr lang="fr-FR" sz="2400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fr-FR" sz="2800" b="1" dirty="0">
                <a:solidFill>
                  <a:srgbClr val="FF0000"/>
                </a:solidFill>
              </a:rPr>
              <a:t>    </a:t>
            </a:r>
            <a:r>
              <a:rPr lang="fr-FR" sz="2800" b="1" dirty="0" err="1">
                <a:solidFill>
                  <a:srgbClr val="FF0000"/>
                </a:solidFill>
              </a:rPr>
              <a:t>android:usesCleartextTraffic</a:t>
            </a:r>
            <a:r>
              <a:rPr lang="fr-FR" sz="2800" b="1" dirty="0">
                <a:solidFill>
                  <a:srgbClr val="FF0000"/>
                </a:solidFill>
              </a:rPr>
              <a:t>="</a:t>
            </a:r>
            <a:r>
              <a:rPr lang="fr-FR" sz="2800" b="1" dirty="0" err="1">
                <a:solidFill>
                  <a:srgbClr val="FF0000"/>
                </a:solidFill>
              </a:rPr>
              <a:t>true</a:t>
            </a:r>
            <a:r>
              <a:rPr lang="fr-FR" sz="2800" b="1" dirty="0">
                <a:solidFill>
                  <a:srgbClr val="FF0000"/>
                </a:solidFill>
              </a:rPr>
              <a:t>"  </a:t>
            </a:r>
          </a:p>
          <a:p>
            <a:pPr marL="0" indent="0">
              <a:buNone/>
            </a:pPr>
            <a:r>
              <a:rPr lang="fr-FR" sz="2400" b="1" dirty="0">
                <a:solidFill>
                  <a:srgbClr val="0070C0"/>
                </a:solidFill>
              </a:rPr>
              <a:t>... &gt;</a:t>
            </a:r>
          </a:p>
          <a:p>
            <a:pPr marL="0" indent="0">
              <a:buNone/>
            </a:pPr>
            <a:r>
              <a:rPr lang="fr-FR" sz="2400" b="1" dirty="0">
                <a:solidFill>
                  <a:srgbClr val="0070C0"/>
                </a:solidFill>
              </a:rPr>
              <a:t>&lt;/application&gt;</a:t>
            </a:r>
          </a:p>
          <a:p>
            <a:endParaRPr lang="es-AR" sz="2800" dirty="0"/>
          </a:p>
        </p:txBody>
      </p:sp>
    </p:spTree>
    <p:extLst>
      <p:ext uri="{BB962C8B-B14F-4D97-AF65-F5344CB8AC3E}">
        <p14:creationId xmlns:p14="http://schemas.microsoft.com/office/powerpoint/2010/main" val="845670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4674A-E808-CEC9-5A1D-9B5CEA8BC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8CE413-07F9-9E0B-545C-DB4E9D26D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La primer web app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4DBA03-A7BE-A305-1341-A0AFB00702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200151"/>
            <a:ext cx="10178322" cy="507206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AR" sz="2800" dirty="0"/>
              <a:t>Debemos crear un </a:t>
            </a:r>
            <a:r>
              <a:rPr lang="es-AR" sz="2800" b="1" dirty="0" err="1"/>
              <a:t>webview</a:t>
            </a:r>
            <a:r>
              <a:rPr lang="es-AR" sz="2800" dirty="0"/>
              <a:t> en el contexto de algún </a:t>
            </a:r>
            <a:r>
              <a:rPr lang="es-AR" sz="2800" dirty="0" err="1"/>
              <a:t>activity</a:t>
            </a:r>
            <a:r>
              <a:rPr lang="es-AR" sz="2800" dirty="0"/>
              <a:t> o </a:t>
            </a:r>
            <a:r>
              <a:rPr lang="es-AR" sz="2800" dirty="0" err="1"/>
              <a:t>fragment</a:t>
            </a:r>
            <a:r>
              <a:rPr lang="es-AR" sz="2800" dirty="0"/>
              <a:t> (ideal un </a:t>
            </a:r>
            <a:r>
              <a:rPr lang="es-AR" sz="2800" dirty="0" err="1"/>
              <a:t>activity</a:t>
            </a:r>
            <a:r>
              <a:rPr lang="es-AR" sz="2800" dirty="0"/>
              <a:t> que ocupe toda la pantalla)</a:t>
            </a:r>
          </a:p>
          <a:p>
            <a:pPr marL="0" indent="0">
              <a:buNone/>
            </a:pPr>
            <a:endParaRPr lang="fr-FR" sz="24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s-AR" sz="2800" dirty="0"/>
              <a:t>En este caso tendremos un </a:t>
            </a:r>
            <a:r>
              <a:rPr lang="es-AR" sz="2800" dirty="0" err="1"/>
              <a:t>Layout</a:t>
            </a:r>
            <a:r>
              <a:rPr lang="es-AR" sz="2800" dirty="0"/>
              <a:t> principal con </a:t>
            </a:r>
            <a:r>
              <a:rPr lang="es-AR" sz="2800" dirty="0" err="1"/>
              <a:t>WebView</a:t>
            </a:r>
            <a:r>
              <a:rPr lang="es-AR" sz="2800" dirty="0"/>
              <a:t>. En </a:t>
            </a:r>
            <a:r>
              <a:rPr lang="es-AR" sz="2800" i="1" dirty="0"/>
              <a:t>res/</a:t>
            </a:r>
            <a:r>
              <a:rPr lang="es-AR" sz="2800" i="1" dirty="0" err="1"/>
              <a:t>layout</a:t>
            </a:r>
            <a:r>
              <a:rPr lang="es-AR" sz="2800" i="1" dirty="0"/>
              <a:t>/activity_main.xml </a:t>
            </a:r>
            <a:r>
              <a:rPr lang="es-AR" sz="2800" dirty="0" err="1"/>
              <a:t>ponés</a:t>
            </a:r>
            <a:r>
              <a:rPr lang="es-AR" sz="2800" dirty="0"/>
              <a:t> un </a:t>
            </a:r>
            <a:r>
              <a:rPr lang="es-AR" sz="2800" dirty="0" err="1"/>
              <a:t>WebView</a:t>
            </a:r>
            <a:r>
              <a:rPr lang="es-AR" sz="2800" dirty="0"/>
              <a:t> que va a mostrar tu HTML: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FF0000"/>
                </a:solidFill>
              </a:rPr>
              <a:t>&lt;WebView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FF0000"/>
                </a:solidFill>
              </a:rPr>
              <a:t>        </a:t>
            </a:r>
            <a:r>
              <a:rPr lang="en-US" sz="2800" dirty="0" err="1">
                <a:solidFill>
                  <a:srgbClr val="FF0000"/>
                </a:solidFill>
              </a:rPr>
              <a:t>android:id</a:t>
            </a:r>
            <a:r>
              <a:rPr lang="en-US" sz="2800" dirty="0">
                <a:solidFill>
                  <a:srgbClr val="FF0000"/>
                </a:solidFill>
              </a:rPr>
              <a:t>="@+id/</a:t>
            </a:r>
            <a:r>
              <a:rPr lang="en-US" sz="2800" dirty="0" err="1">
                <a:solidFill>
                  <a:srgbClr val="FF0000"/>
                </a:solidFill>
              </a:rPr>
              <a:t>webview</a:t>
            </a:r>
            <a:r>
              <a:rPr lang="en-US" sz="2800" dirty="0">
                <a:solidFill>
                  <a:srgbClr val="FF0000"/>
                </a:solidFill>
              </a:rPr>
              <a:t>"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FF0000"/>
                </a:solidFill>
              </a:rPr>
              <a:t>        </a:t>
            </a:r>
            <a:r>
              <a:rPr lang="en-US" sz="2800" dirty="0" err="1">
                <a:solidFill>
                  <a:srgbClr val="FF0000"/>
                </a:solidFill>
              </a:rPr>
              <a:t>android:layout_width</a:t>
            </a:r>
            <a:r>
              <a:rPr lang="en-US" sz="2800" dirty="0">
                <a:solidFill>
                  <a:srgbClr val="FF0000"/>
                </a:solidFill>
              </a:rPr>
              <a:t>="</a:t>
            </a:r>
            <a:r>
              <a:rPr lang="en-US" sz="2800" dirty="0" err="1">
                <a:solidFill>
                  <a:srgbClr val="FF0000"/>
                </a:solidFill>
              </a:rPr>
              <a:t>match_parent</a:t>
            </a:r>
            <a:r>
              <a:rPr lang="en-US" sz="2800" dirty="0">
                <a:solidFill>
                  <a:srgbClr val="FF0000"/>
                </a:solidFill>
              </a:rPr>
              <a:t>"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FF0000"/>
                </a:solidFill>
              </a:rPr>
              <a:t>        </a:t>
            </a:r>
            <a:r>
              <a:rPr lang="en-US" sz="2800" dirty="0" err="1">
                <a:solidFill>
                  <a:srgbClr val="FF0000"/>
                </a:solidFill>
              </a:rPr>
              <a:t>android:layout_height</a:t>
            </a:r>
            <a:r>
              <a:rPr lang="en-US" sz="2800" dirty="0">
                <a:solidFill>
                  <a:srgbClr val="FF0000"/>
                </a:solidFill>
              </a:rPr>
              <a:t>="</a:t>
            </a:r>
            <a:r>
              <a:rPr lang="en-US" sz="2800" dirty="0" err="1">
                <a:solidFill>
                  <a:srgbClr val="FF0000"/>
                </a:solidFill>
              </a:rPr>
              <a:t>match_parent</a:t>
            </a:r>
            <a:r>
              <a:rPr lang="en-US" sz="2800" dirty="0">
                <a:solidFill>
                  <a:srgbClr val="FF0000"/>
                </a:solidFill>
              </a:rPr>
              <a:t>"/&gt;</a:t>
            </a:r>
            <a:endParaRPr lang="es-AR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2131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24EF85-9F76-85DB-4814-6DA308CBE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Web app a </a:t>
            </a:r>
            <a:r>
              <a:rPr lang="es-AR" dirty="0" err="1"/>
              <a:t>travez</a:t>
            </a:r>
            <a:r>
              <a:rPr lang="es-AR" dirty="0"/>
              <a:t> de un link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6495CB-0F7E-7E76-2447-C44A57DA31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228725"/>
            <a:ext cx="10178322" cy="55006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AR" sz="1800" b="1" dirty="0" err="1"/>
              <a:t>Opcion</a:t>
            </a:r>
            <a:r>
              <a:rPr lang="es-AR" sz="1800" b="1" dirty="0"/>
              <a:t> 1 cargando una </a:t>
            </a:r>
            <a:r>
              <a:rPr lang="es-AR" sz="1800" b="1" dirty="0" err="1"/>
              <a:t>url</a:t>
            </a:r>
            <a:endParaRPr lang="es-AR" sz="1800" b="1" dirty="0"/>
          </a:p>
          <a:p>
            <a:pPr marL="0" indent="0">
              <a:buNone/>
            </a:pPr>
            <a:r>
              <a:rPr lang="es-AR" sz="1600" b="1" dirty="0" err="1"/>
              <a:t>class</a:t>
            </a:r>
            <a:r>
              <a:rPr lang="es-AR" sz="1600" b="1" dirty="0"/>
              <a:t> </a:t>
            </a:r>
            <a:r>
              <a:rPr lang="es-AR" sz="1600" b="1" dirty="0" err="1"/>
              <a:t>MainActivity</a:t>
            </a:r>
            <a:r>
              <a:rPr lang="es-AR" sz="1600" b="1" dirty="0"/>
              <a:t> : </a:t>
            </a:r>
            <a:r>
              <a:rPr lang="es-AR" sz="1600" b="1" dirty="0" err="1"/>
              <a:t>AppCompatActivity</a:t>
            </a:r>
            <a:r>
              <a:rPr lang="es-AR" sz="1600" b="1" dirty="0"/>
              <a:t>() {</a:t>
            </a:r>
          </a:p>
          <a:p>
            <a:pPr marL="0" indent="0">
              <a:buNone/>
            </a:pPr>
            <a:r>
              <a:rPr lang="es-AR" sz="1800" b="1" dirty="0">
                <a:solidFill>
                  <a:srgbClr val="FF0000"/>
                </a:solidFill>
              </a:rPr>
              <a:t>       	 </a:t>
            </a:r>
            <a:r>
              <a:rPr lang="es-AR" sz="1800" b="1" dirty="0" err="1">
                <a:solidFill>
                  <a:srgbClr val="FF0000"/>
                </a:solidFill>
              </a:rPr>
              <a:t>private</a:t>
            </a:r>
            <a:r>
              <a:rPr lang="es-AR" sz="1800" b="1" dirty="0">
                <a:solidFill>
                  <a:srgbClr val="FF0000"/>
                </a:solidFill>
              </a:rPr>
              <a:t> </a:t>
            </a:r>
            <a:r>
              <a:rPr lang="es-AR" sz="1800" b="1" dirty="0" err="1">
                <a:solidFill>
                  <a:srgbClr val="FF0000"/>
                </a:solidFill>
              </a:rPr>
              <a:t>lateinit</a:t>
            </a:r>
            <a:r>
              <a:rPr lang="es-AR" sz="1800" b="1" dirty="0">
                <a:solidFill>
                  <a:srgbClr val="FF0000"/>
                </a:solidFill>
              </a:rPr>
              <a:t> </a:t>
            </a:r>
            <a:r>
              <a:rPr lang="es-AR" sz="1800" b="1" dirty="0" err="1">
                <a:solidFill>
                  <a:srgbClr val="FF0000"/>
                </a:solidFill>
              </a:rPr>
              <a:t>var</a:t>
            </a:r>
            <a:r>
              <a:rPr lang="es-AR" sz="1800" b="1" dirty="0">
                <a:solidFill>
                  <a:srgbClr val="FF0000"/>
                </a:solidFill>
              </a:rPr>
              <a:t> </a:t>
            </a:r>
            <a:r>
              <a:rPr lang="es-AR" sz="1800" b="1" dirty="0" err="1">
                <a:solidFill>
                  <a:srgbClr val="FF0000"/>
                </a:solidFill>
              </a:rPr>
              <a:t>webView</a:t>
            </a:r>
            <a:r>
              <a:rPr lang="es-AR" sz="1800" b="1" dirty="0">
                <a:solidFill>
                  <a:srgbClr val="FF0000"/>
                </a:solidFill>
              </a:rPr>
              <a:t>: </a:t>
            </a:r>
            <a:r>
              <a:rPr lang="es-AR" sz="1800" b="1" dirty="0" err="1">
                <a:solidFill>
                  <a:srgbClr val="FF0000"/>
                </a:solidFill>
              </a:rPr>
              <a:t>WebView</a:t>
            </a:r>
            <a:r>
              <a:rPr lang="es-AR" sz="1800" b="1" dirty="0">
                <a:solidFill>
                  <a:srgbClr val="FF0000"/>
                </a:solidFill>
              </a:rPr>
              <a:t>      //para que no inicie automáticamente </a:t>
            </a:r>
          </a:p>
          <a:p>
            <a:pPr marL="0" indent="0">
              <a:buNone/>
            </a:pPr>
            <a:r>
              <a:rPr lang="es-AR" sz="1800" b="1" dirty="0">
                <a:solidFill>
                  <a:srgbClr val="FF0000"/>
                </a:solidFill>
              </a:rPr>
              <a:t>	</a:t>
            </a:r>
            <a:r>
              <a:rPr lang="es-AR" sz="1600" b="1" dirty="0" err="1"/>
              <a:t>override</a:t>
            </a:r>
            <a:r>
              <a:rPr lang="es-AR" sz="1600" b="1" dirty="0"/>
              <a:t> </a:t>
            </a:r>
            <a:r>
              <a:rPr lang="es-AR" sz="1600" b="1" dirty="0" err="1"/>
              <a:t>fun</a:t>
            </a:r>
            <a:r>
              <a:rPr lang="es-AR" sz="1600" b="1" dirty="0"/>
              <a:t> </a:t>
            </a:r>
            <a:r>
              <a:rPr lang="es-AR" sz="1600" b="1" dirty="0" err="1"/>
              <a:t>onCreate</a:t>
            </a:r>
            <a:r>
              <a:rPr lang="es-AR" sz="1600" b="1" dirty="0"/>
              <a:t>(</a:t>
            </a:r>
            <a:r>
              <a:rPr lang="es-AR" sz="1600" b="1" dirty="0" err="1"/>
              <a:t>savedInstanceState</a:t>
            </a:r>
            <a:r>
              <a:rPr lang="es-AR" sz="1600" b="1" dirty="0"/>
              <a:t>: </a:t>
            </a:r>
            <a:r>
              <a:rPr lang="es-AR" sz="1600" b="1" dirty="0" err="1"/>
              <a:t>Bundle</a:t>
            </a:r>
            <a:r>
              <a:rPr lang="es-AR" sz="1600" b="1" dirty="0"/>
              <a:t>?) {</a:t>
            </a:r>
            <a:br>
              <a:rPr lang="es-AR" sz="1600" b="1" dirty="0"/>
            </a:br>
            <a:r>
              <a:rPr lang="es-AR" sz="1600" b="1" dirty="0"/>
              <a:t>                     	</a:t>
            </a:r>
            <a:r>
              <a:rPr lang="es-AR" sz="1600" b="1" dirty="0" err="1"/>
              <a:t>super.onCreate</a:t>
            </a:r>
            <a:r>
              <a:rPr lang="es-AR" sz="1600" b="1" dirty="0"/>
              <a:t>(</a:t>
            </a:r>
            <a:r>
              <a:rPr lang="es-AR" sz="1600" b="1" dirty="0" err="1"/>
              <a:t>savedInstanceState</a:t>
            </a:r>
            <a:r>
              <a:rPr lang="es-AR" sz="1600" b="1" dirty="0"/>
              <a:t>)</a:t>
            </a:r>
            <a:br>
              <a:rPr lang="es-AR" sz="1600" b="1" dirty="0"/>
            </a:br>
            <a:r>
              <a:rPr lang="es-AR" sz="1600" b="1" dirty="0"/>
              <a:t>                    	 </a:t>
            </a:r>
            <a:r>
              <a:rPr lang="es-AR" sz="1600" b="1" dirty="0" err="1"/>
              <a:t>setContentView</a:t>
            </a:r>
            <a:r>
              <a:rPr lang="es-AR" sz="1600" b="1" dirty="0"/>
              <a:t>(</a:t>
            </a:r>
            <a:r>
              <a:rPr lang="es-AR" sz="1600" b="1" dirty="0" err="1"/>
              <a:t>R.layout.</a:t>
            </a:r>
            <a:r>
              <a:rPr lang="es-AR" sz="1600" b="1" i="1" dirty="0" err="1"/>
              <a:t>activity_main</a:t>
            </a:r>
            <a:r>
              <a:rPr lang="es-AR" sz="1600" b="1" dirty="0"/>
              <a:t>)</a:t>
            </a:r>
          </a:p>
          <a:p>
            <a:pPr marL="0" indent="0">
              <a:buNone/>
            </a:pPr>
            <a:r>
              <a:rPr lang="es-AR" sz="1600" b="1" dirty="0">
                <a:solidFill>
                  <a:srgbClr val="FF0000"/>
                </a:solidFill>
              </a:rPr>
              <a:t>	        </a:t>
            </a:r>
            <a:r>
              <a:rPr lang="es-AR" sz="1800" b="1" dirty="0">
                <a:solidFill>
                  <a:srgbClr val="FF0000"/>
                </a:solidFill>
              </a:rPr>
              <a:t>       </a:t>
            </a:r>
            <a:r>
              <a:rPr lang="en-US" sz="1800" b="1" dirty="0" err="1">
                <a:solidFill>
                  <a:srgbClr val="FF0000"/>
                </a:solidFill>
              </a:rPr>
              <a:t>webView</a:t>
            </a:r>
            <a:r>
              <a:rPr lang="en-US" sz="1800" b="1" dirty="0">
                <a:solidFill>
                  <a:srgbClr val="FF0000"/>
                </a:solidFill>
              </a:rPr>
              <a:t> = </a:t>
            </a:r>
            <a:r>
              <a:rPr lang="en-US" sz="1800" b="1" dirty="0" err="1">
                <a:solidFill>
                  <a:srgbClr val="FF0000"/>
                </a:solidFill>
              </a:rPr>
              <a:t>findViewById</a:t>
            </a:r>
            <a:r>
              <a:rPr lang="en-US" sz="1800" b="1" dirty="0">
                <a:solidFill>
                  <a:srgbClr val="FF0000"/>
                </a:solidFill>
              </a:rPr>
              <a:t>(</a:t>
            </a:r>
            <a:r>
              <a:rPr lang="en-US" sz="1800" b="1" dirty="0" err="1">
                <a:solidFill>
                  <a:srgbClr val="FF0000"/>
                </a:solidFill>
              </a:rPr>
              <a:t>R.id.</a:t>
            </a:r>
            <a:r>
              <a:rPr lang="en-US" sz="1800" b="1" i="1" dirty="0" err="1">
                <a:solidFill>
                  <a:srgbClr val="FF0000"/>
                </a:solidFill>
              </a:rPr>
              <a:t>webview</a:t>
            </a:r>
            <a:r>
              <a:rPr lang="en-US" sz="1800" b="1" dirty="0">
                <a:solidFill>
                  <a:srgbClr val="FF0000"/>
                </a:solidFill>
              </a:rPr>
              <a:t>)   //</a:t>
            </a:r>
            <a:r>
              <a:rPr lang="en-US" sz="1800" b="1" dirty="0" err="1">
                <a:solidFill>
                  <a:srgbClr val="FF0000"/>
                </a:solidFill>
              </a:rPr>
              <a:t>capturamos</a:t>
            </a:r>
            <a:r>
              <a:rPr lang="en-US" sz="1800" b="1" dirty="0">
                <a:solidFill>
                  <a:srgbClr val="FF0000"/>
                </a:solidFill>
              </a:rPr>
              <a:t> </a:t>
            </a:r>
            <a:r>
              <a:rPr lang="en-US" sz="1800" b="1" dirty="0" err="1">
                <a:solidFill>
                  <a:srgbClr val="FF0000"/>
                </a:solidFill>
              </a:rPr>
              <a:t>el</a:t>
            </a:r>
            <a:r>
              <a:rPr lang="en-US" sz="1800" b="1" dirty="0">
                <a:solidFill>
                  <a:srgbClr val="FF0000"/>
                </a:solidFill>
              </a:rPr>
              <a:t> </a:t>
            </a:r>
            <a:r>
              <a:rPr lang="en-US" sz="1800" b="1" dirty="0" err="1">
                <a:solidFill>
                  <a:srgbClr val="FF0000"/>
                </a:solidFill>
              </a:rPr>
              <a:t>webview</a:t>
            </a:r>
            <a:endParaRPr lang="en-US" sz="18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</a:rPr>
              <a:t>                      	</a:t>
            </a:r>
            <a:r>
              <a:rPr lang="en-US" sz="1800" b="1" dirty="0" err="1">
                <a:solidFill>
                  <a:srgbClr val="FF0000"/>
                </a:solidFill>
              </a:rPr>
              <a:t>val</a:t>
            </a:r>
            <a:r>
              <a:rPr lang="en-US" sz="1800" b="1" dirty="0">
                <a:solidFill>
                  <a:srgbClr val="FF0000"/>
                </a:solidFill>
              </a:rPr>
              <a:t> </a:t>
            </a:r>
            <a:r>
              <a:rPr lang="en-US" sz="1800" b="1" dirty="0" err="1">
                <a:solidFill>
                  <a:srgbClr val="FF0000"/>
                </a:solidFill>
              </a:rPr>
              <a:t>webSettings</a:t>
            </a:r>
            <a:r>
              <a:rPr lang="en-US" sz="1800" b="1" dirty="0">
                <a:solidFill>
                  <a:srgbClr val="FF0000"/>
                </a:solidFill>
              </a:rPr>
              <a:t>: </a:t>
            </a:r>
            <a:r>
              <a:rPr lang="en-US" sz="1800" b="1" dirty="0" err="1">
                <a:solidFill>
                  <a:srgbClr val="FF0000"/>
                </a:solidFill>
              </a:rPr>
              <a:t>WebSettings</a:t>
            </a:r>
            <a:r>
              <a:rPr lang="en-US" sz="1800" b="1" dirty="0">
                <a:solidFill>
                  <a:srgbClr val="FF0000"/>
                </a:solidFill>
              </a:rPr>
              <a:t> = </a:t>
            </a:r>
            <a:r>
              <a:rPr lang="en-US" sz="1800" b="1" dirty="0" err="1">
                <a:solidFill>
                  <a:srgbClr val="FF0000"/>
                </a:solidFill>
              </a:rPr>
              <a:t>webView.settings</a:t>
            </a:r>
            <a:r>
              <a:rPr lang="en-US" sz="1800" b="1" dirty="0">
                <a:solidFill>
                  <a:srgbClr val="FF0000"/>
                </a:solidFill>
              </a:rPr>
              <a:t>  </a:t>
            </a:r>
            <a:r>
              <a:rPr lang="en-US" sz="1800" dirty="0">
                <a:latin typeface="Arial Rounded MT Bold" panose="020F0704030504030204" pitchFamily="34" charset="0"/>
              </a:rPr>
              <a:t>//</a:t>
            </a:r>
            <a:r>
              <a:rPr lang="en-US" sz="1800" dirty="0" err="1">
                <a:latin typeface="Arial Rounded MT Bold" panose="020F0704030504030204" pitchFamily="34" charset="0"/>
              </a:rPr>
              <a:t>capturamos</a:t>
            </a:r>
            <a:r>
              <a:rPr lang="en-US" sz="1800" dirty="0">
                <a:latin typeface="Arial Rounded MT Bold" panose="020F0704030504030204" pitchFamily="34" charset="0"/>
              </a:rPr>
              <a:t> </a:t>
            </a:r>
            <a:r>
              <a:rPr lang="en-US" sz="1800" dirty="0" err="1">
                <a:latin typeface="Arial Rounded MT Bold" panose="020F0704030504030204" pitchFamily="34" charset="0"/>
              </a:rPr>
              <a:t>los</a:t>
            </a:r>
            <a:r>
              <a:rPr lang="en-US" sz="1800" dirty="0">
                <a:latin typeface="Arial Rounded MT Bold" panose="020F0704030504030204" pitchFamily="34" charset="0"/>
              </a:rPr>
              <a:t> </a:t>
            </a:r>
            <a:r>
              <a:rPr lang="en-US" sz="1800" dirty="0" err="1">
                <a:latin typeface="Arial Rounded MT Bold" panose="020F0704030504030204" pitchFamily="34" charset="0"/>
              </a:rPr>
              <a:t>seteos</a:t>
            </a:r>
            <a:r>
              <a:rPr lang="en-US" sz="1800" dirty="0">
                <a:latin typeface="Arial Rounded MT Bold" panose="020F0704030504030204" pitchFamily="34" charset="0"/>
              </a:rPr>
              <a:t> (panel de control del </a:t>
            </a:r>
            <a:r>
              <a:rPr lang="en-US" sz="1800" dirty="0" err="1">
                <a:latin typeface="Arial Rounded MT Bold" panose="020F0704030504030204" pitchFamily="34" charset="0"/>
              </a:rPr>
              <a:t>webwib</a:t>
            </a:r>
            <a:r>
              <a:rPr lang="en-US" sz="1800" dirty="0">
                <a:latin typeface="Arial Rounded MT Bold" panose="020F0704030504030204" pitchFamily="34" charset="0"/>
              </a:rPr>
              <a:t> para </a:t>
            </a:r>
            <a:r>
              <a:rPr lang="en-US" sz="1800" dirty="0" err="1">
                <a:latin typeface="Arial Rounded MT Bold" panose="020F0704030504030204" pitchFamily="34" charset="0"/>
              </a:rPr>
              <a:t>cambiar</a:t>
            </a:r>
            <a:r>
              <a:rPr lang="en-US" sz="1800" dirty="0">
                <a:latin typeface="Arial Rounded MT Bold" panose="020F0704030504030204" pitchFamily="34" charset="0"/>
              </a:rPr>
              <a:t> el zoom y </a:t>
            </a:r>
            <a:r>
              <a:rPr lang="en-US" sz="1800" dirty="0" err="1">
                <a:latin typeface="Arial Rounded MT Bold" panose="020F0704030504030204" pitchFamily="34" charset="0"/>
              </a:rPr>
              <a:t>otras</a:t>
            </a:r>
            <a:r>
              <a:rPr lang="en-US" sz="1800" dirty="0">
                <a:latin typeface="Arial Rounded MT Bold" panose="020F0704030504030204" pitchFamily="34" charset="0"/>
              </a:rPr>
              <a:t> </a:t>
            </a:r>
            <a:r>
              <a:rPr lang="en-US" sz="1800" dirty="0" err="1">
                <a:latin typeface="Arial Rounded MT Bold" panose="020F0704030504030204" pitchFamily="34" charset="0"/>
              </a:rPr>
              <a:t>opciones</a:t>
            </a:r>
            <a:r>
              <a:rPr lang="en-US" sz="1800" dirty="0">
                <a:latin typeface="Arial Rounded MT Bold" panose="020F0704030504030204" pitchFamily="34" charset="0"/>
              </a:rPr>
              <a:t>)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</a:rPr>
              <a:t>      		</a:t>
            </a:r>
            <a:r>
              <a:rPr lang="en-US" sz="1800" b="1" dirty="0" err="1">
                <a:solidFill>
                  <a:srgbClr val="FF0000"/>
                </a:solidFill>
              </a:rPr>
              <a:t>webSettings.javaScriptEnabled</a:t>
            </a:r>
            <a:r>
              <a:rPr lang="en-US" sz="1800" b="1" dirty="0">
                <a:solidFill>
                  <a:srgbClr val="FF0000"/>
                </a:solidFill>
              </a:rPr>
              <a:t> = true  </a:t>
            </a:r>
            <a:r>
              <a:rPr lang="en-US" sz="1800" dirty="0">
                <a:latin typeface="Arial Rounded MT Bold" panose="020F0704030504030204" pitchFamily="34" charset="0"/>
              </a:rPr>
              <a:t>// </a:t>
            </a:r>
            <a:r>
              <a:rPr lang="en-US" sz="1800" dirty="0" err="1">
                <a:latin typeface="Arial Rounded MT Bold" panose="020F0704030504030204" pitchFamily="34" charset="0"/>
              </a:rPr>
              <a:t>Habilitar</a:t>
            </a:r>
            <a:r>
              <a:rPr lang="en-US" sz="1800" dirty="0">
                <a:latin typeface="Arial Rounded MT Bold" panose="020F0704030504030204" pitchFamily="34" charset="0"/>
              </a:rPr>
              <a:t> JS </a:t>
            </a:r>
            <a:r>
              <a:rPr lang="en-US" sz="1800" dirty="0" err="1">
                <a:latin typeface="Arial Rounded MT Bold" panose="020F0704030504030204" pitchFamily="34" charset="0"/>
              </a:rPr>
              <a:t>si</a:t>
            </a:r>
            <a:r>
              <a:rPr lang="en-US" sz="1800" dirty="0">
                <a:latin typeface="Arial Rounded MT Bold" panose="020F0704030504030204" pitchFamily="34" charset="0"/>
              </a:rPr>
              <a:t> lo </a:t>
            </a:r>
            <a:r>
              <a:rPr lang="en-US" sz="1800" dirty="0" err="1">
                <a:latin typeface="Arial Rounded MT Bold" panose="020F0704030504030204" pitchFamily="34" charset="0"/>
              </a:rPr>
              <a:t>necesita</a:t>
            </a:r>
            <a:r>
              <a:rPr lang="en-US" sz="1800" dirty="0">
                <a:latin typeface="Arial Rounded MT Bold" panose="020F0704030504030204" pitchFamily="34" charset="0"/>
              </a:rPr>
              <a:t> </a:t>
            </a:r>
            <a:r>
              <a:rPr lang="en-US" sz="1800" dirty="0" err="1">
                <a:latin typeface="Arial Rounded MT Bold" panose="020F0704030504030204" pitchFamily="34" charset="0"/>
              </a:rPr>
              <a:t>tu</a:t>
            </a:r>
            <a:r>
              <a:rPr lang="en-US" sz="1800" dirty="0">
                <a:latin typeface="Arial Rounded MT Bold" panose="020F0704030504030204" pitchFamily="34" charset="0"/>
              </a:rPr>
              <a:t> HTML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</a:rPr>
              <a:t>        		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</a:rPr>
              <a:t>		</a:t>
            </a:r>
            <a:r>
              <a:rPr lang="en-US" sz="1800" b="1" dirty="0" err="1">
                <a:solidFill>
                  <a:srgbClr val="FF0000"/>
                </a:solidFill>
              </a:rPr>
              <a:t>webView.webViewClient</a:t>
            </a:r>
            <a:r>
              <a:rPr lang="en-US" sz="1800" b="1" dirty="0">
                <a:solidFill>
                  <a:srgbClr val="FF0000"/>
                </a:solidFill>
              </a:rPr>
              <a:t> = </a:t>
            </a:r>
            <a:r>
              <a:rPr lang="en-US" sz="1800" b="1" dirty="0" err="1">
                <a:solidFill>
                  <a:srgbClr val="FF0000"/>
                </a:solidFill>
              </a:rPr>
              <a:t>WebViewClient</a:t>
            </a:r>
            <a:r>
              <a:rPr lang="en-US" sz="1800" b="1" dirty="0">
                <a:solidFill>
                  <a:srgbClr val="FF0000"/>
                </a:solidFill>
              </a:rPr>
              <a:t>()  </a:t>
            </a:r>
            <a:r>
              <a:rPr lang="es-AR" sz="1800" dirty="0">
                <a:latin typeface="Arial Rounded MT Bold" panose="020F0704030504030204" pitchFamily="34" charset="0"/>
              </a:rPr>
              <a:t>// Evitar que los enlaces abran el navegador externo (Chrome) del teléfono</a:t>
            </a:r>
            <a:endParaRPr lang="en-US" sz="1800" b="1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</a:rPr>
              <a:t>		</a:t>
            </a:r>
            <a:r>
              <a:rPr lang="en-US" sz="1800" b="1" dirty="0" err="1">
                <a:solidFill>
                  <a:srgbClr val="FF0000"/>
                </a:solidFill>
              </a:rPr>
              <a:t>webView.loadUrl</a:t>
            </a:r>
            <a:r>
              <a:rPr lang="en-US" sz="1800" b="1" dirty="0">
                <a:solidFill>
                  <a:srgbClr val="FF0000"/>
                </a:solidFill>
              </a:rPr>
              <a:t>(</a:t>
            </a:r>
            <a:r>
              <a:rPr lang="en-US" sz="1800" b="1" dirty="0">
                <a:solidFill>
                  <a:srgbClr val="FF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“https://tupagina.com</a:t>
            </a:r>
            <a:r>
              <a:rPr lang="en-US" sz="1800" b="1" dirty="0">
                <a:solidFill>
                  <a:srgbClr val="FF0000"/>
                </a:solidFill>
              </a:rPr>
              <a:t>”)</a:t>
            </a:r>
            <a:endParaRPr lang="es-AR" sz="18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s-AR" sz="1800" b="1" dirty="0"/>
              <a:t>             }</a:t>
            </a:r>
          </a:p>
          <a:p>
            <a:pPr marL="0" indent="0">
              <a:buNone/>
            </a:pPr>
            <a:r>
              <a:rPr lang="es-AR" sz="18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9382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6BE68-44DE-2074-2695-474AF3B67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C7950E-7057-7CAC-54C2-268EEE0C3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Web app a través de un link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C8DBD40-F863-A134-1B8D-2627B4C40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228725"/>
            <a:ext cx="10178322" cy="55006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AR" sz="2400" dirty="0"/>
              <a:t>Hasta aquí hemos creado un web View que permite navegarlo pero no tenemos acciones para retroceder ni cerrar la aplicación para esto antes de cerrar la clase </a:t>
            </a:r>
            <a:r>
              <a:rPr lang="es-AR" sz="2400" dirty="0" err="1"/>
              <a:t>MainActivity</a:t>
            </a:r>
            <a:r>
              <a:rPr lang="es-AR" sz="2400" dirty="0"/>
              <a:t> debemos adicionar las acciones del botón back: </a:t>
            </a:r>
            <a:r>
              <a:rPr lang="es-AR" sz="2400" b="1" dirty="0">
                <a:solidFill>
                  <a:srgbClr val="002060"/>
                </a:solidFill>
              </a:rPr>
              <a:t>(opción A)</a:t>
            </a:r>
          </a:p>
          <a:p>
            <a:pPr marL="0" indent="0">
              <a:buNone/>
            </a:pPr>
            <a:r>
              <a:rPr lang="es-AR" sz="2400" b="1" dirty="0" err="1">
                <a:solidFill>
                  <a:srgbClr val="FF0000"/>
                </a:solidFill>
              </a:rPr>
              <a:t>override</a:t>
            </a:r>
            <a:r>
              <a:rPr lang="es-AR" sz="2400" b="1" dirty="0">
                <a:solidFill>
                  <a:srgbClr val="FF0000"/>
                </a:solidFill>
              </a:rPr>
              <a:t> </a:t>
            </a:r>
            <a:r>
              <a:rPr lang="es-AR" sz="2400" b="1" dirty="0" err="1">
                <a:solidFill>
                  <a:srgbClr val="FF0000"/>
                </a:solidFill>
              </a:rPr>
              <a:t>fun</a:t>
            </a:r>
            <a:r>
              <a:rPr lang="es-AR" sz="2400" b="1" dirty="0">
                <a:solidFill>
                  <a:srgbClr val="FF0000"/>
                </a:solidFill>
              </a:rPr>
              <a:t> </a:t>
            </a:r>
            <a:r>
              <a:rPr lang="es-AR" sz="2400" b="1" dirty="0" err="1">
                <a:solidFill>
                  <a:srgbClr val="FF0000"/>
                </a:solidFill>
              </a:rPr>
              <a:t>onBackPressed</a:t>
            </a:r>
            <a:r>
              <a:rPr lang="es-AR" sz="2400" b="1" dirty="0">
                <a:solidFill>
                  <a:srgbClr val="FF0000"/>
                </a:solidFill>
              </a:rPr>
              <a:t>() {</a:t>
            </a:r>
          </a:p>
          <a:p>
            <a:pPr marL="0" indent="0">
              <a:buNone/>
            </a:pPr>
            <a:r>
              <a:rPr lang="es-AR" sz="2400" b="1" dirty="0">
                <a:solidFill>
                  <a:srgbClr val="FF0000"/>
                </a:solidFill>
              </a:rPr>
              <a:t>        </a:t>
            </a:r>
            <a:r>
              <a:rPr lang="es-AR" sz="2400" b="1" dirty="0" err="1">
                <a:solidFill>
                  <a:srgbClr val="FF0000"/>
                </a:solidFill>
              </a:rPr>
              <a:t>if</a:t>
            </a:r>
            <a:r>
              <a:rPr lang="es-AR" sz="2400" b="1" dirty="0">
                <a:solidFill>
                  <a:srgbClr val="FF0000"/>
                </a:solidFill>
              </a:rPr>
              <a:t> (</a:t>
            </a:r>
            <a:r>
              <a:rPr lang="es-AR" sz="2400" b="1" dirty="0" err="1">
                <a:solidFill>
                  <a:srgbClr val="FF0000"/>
                </a:solidFill>
              </a:rPr>
              <a:t>webView.canGoBack</a:t>
            </a:r>
            <a:r>
              <a:rPr lang="es-AR" sz="2400" b="1" dirty="0">
                <a:solidFill>
                  <a:srgbClr val="FF0000"/>
                </a:solidFill>
              </a:rPr>
              <a:t>()) {</a:t>
            </a:r>
          </a:p>
          <a:p>
            <a:pPr marL="0" indent="0">
              <a:buNone/>
            </a:pPr>
            <a:r>
              <a:rPr lang="es-AR" sz="2400" b="1" dirty="0">
                <a:solidFill>
                  <a:srgbClr val="FF0000"/>
                </a:solidFill>
              </a:rPr>
              <a:t>            </a:t>
            </a:r>
            <a:r>
              <a:rPr lang="es-AR" sz="2400" b="1" dirty="0" err="1">
                <a:solidFill>
                  <a:srgbClr val="FF0000"/>
                </a:solidFill>
              </a:rPr>
              <a:t>webView.goBack</a:t>
            </a:r>
            <a:r>
              <a:rPr lang="es-AR" sz="2400" b="1" dirty="0">
                <a:solidFill>
                  <a:srgbClr val="FF0000"/>
                </a:solidFill>
              </a:rPr>
              <a:t>()</a:t>
            </a:r>
          </a:p>
          <a:p>
            <a:pPr marL="0" indent="0">
              <a:buNone/>
            </a:pPr>
            <a:r>
              <a:rPr lang="es-AR" sz="2400" b="1" dirty="0">
                <a:solidFill>
                  <a:srgbClr val="FF0000"/>
                </a:solidFill>
              </a:rPr>
              <a:t>        } </a:t>
            </a:r>
            <a:r>
              <a:rPr lang="es-AR" sz="2400" b="1" dirty="0" err="1">
                <a:solidFill>
                  <a:srgbClr val="FF0000"/>
                </a:solidFill>
              </a:rPr>
              <a:t>else</a:t>
            </a:r>
            <a:r>
              <a:rPr lang="es-AR" sz="2400" b="1" dirty="0">
                <a:solidFill>
                  <a:srgbClr val="FF0000"/>
                </a:solidFill>
              </a:rPr>
              <a:t> {</a:t>
            </a:r>
          </a:p>
          <a:p>
            <a:pPr marL="0" indent="0">
              <a:buNone/>
            </a:pPr>
            <a:r>
              <a:rPr lang="es-AR" sz="2400" b="1" dirty="0">
                <a:solidFill>
                  <a:srgbClr val="FF0000"/>
                </a:solidFill>
              </a:rPr>
              <a:t>            </a:t>
            </a:r>
            <a:r>
              <a:rPr lang="es-AR" sz="2400" b="1" strike="sngStrike" dirty="0" err="1">
                <a:solidFill>
                  <a:srgbClr val="FF0000"/>
                </a:solidFill>
              </a:rPr>
              <a:t>super.onBackPressed</a:t>
            </a:r>
            <a:r>
              <a:rPr lang="es-AR" sz="2400" b="1" strike="sngStrike" dirty="0">
                <a:solidFill>
                  <a:srgbClr val="FF0000"/>
                </a:solidFill>
              </a:rPr>
              <a:t>()  // deprecada  </a:t>
            </a:r>
            <a:r>
              <a:rPr lang="es-AR" sz="2400" b="1" dirty="0">
                <a:solidFill>
                  <a:srgbClr val="FF0000"/>
                </a:solidFill>
              </a:rPr>
              <a:t>podemos colocar </a:t>
            </a:r>
            <a:r>
              <a:rPr lang="es-AR" sz="2400" b="1" dirty="0" err="1">
                <a:solidFill>
                  <a:srgbClr val="FF0000"/>
                </a:solidFill>
              </a:rPr>
              <a:t>finish</a:t>
            </a:r>
            <a:r>
              <a:rPr lang="es-AR" sz="2400" b="1" dirty="0">
                <a:solidFill>
                  <a:srgbClr val="FF0000"/>
                </a:solidFill>
              </a:rPr>
              <a:t>()</a:t>
            </a:r>
          </a:p>
          <a:p>
            <a:pPr marL="0" indent="0">
              <a:buNone/>
            </a:pPr>
            <a:r>
              <a:rPr lang="es-AR" sz="2400" b="1" dirty="0">
                <a:solidFill>
                  <a:srgbClr val="FF0000"/>
                </a:solidFill>
              </a:rPr>
              <a:t>        }</a:t>
            </a:r>
          </a:p>
          <a:p>
            <a:pPr marL="0" indent="0">
              <a:buNone/>
            </a:pPr>
            <a:r>
              <a:rPr lang="es-AR" sz="2400" b="1" dirty="0">
                <a:solidFill>
                  <a:srgbClr val="FF0000"/>
                </a:solidFill>
              </a:rPr>
              <a:t>    }</a:t>
            </a:r>
          </a:p>
          <a:p>
            <a:pPr marL="0" indent="0">
              <a:buNone/>
            </a:pPr>
            <a:r>
              <a:rPr lang="es-AR" sz="2400" b="1" dirty="0"/>
              <a:t>}//llave que cierra la clase </a:t>
            </a:r>
            <a:r>
              <a:rPr lang="es-AR" sz="2400" b="1" dirty="0" err="1"/>
              <a:t>main</a:t>
            </a:r>
            <a:r>
              <a:rPr lang="es-AR" sz="2400" b="1" dirty="0"/>
              <a:t> </a:t>
            </a:r>
            <a:r>
              <a:rPr lang="es-AR" sz="2400" b="1" dirty="0" err="1"/>
              <a:t>activity</a:t>
            </a:r>
            <a:endParaRPr lang="es-AR" sz="2400" b="1" dirty="0"/>
          </a:p>
        </p:txBody>
      </p:sp>
    </p:spTree>
    <p:extLst>
      <p:ext uri="{BB962C8B-B14F-4D97-AF65-F5344CB8AC3E}">
        <p14:creationId xmlns:p14="http://schemas.microsoft.com/office/powerpoint/2010/main" val="3212994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7E2AC-C8FA-2649-DD43-FA0081AD8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B95536-8088-1263-A59D-2171B81D5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Web app a través de un link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C31CA5-FA5E-BFB3-09D9-4A750F7DD8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228725"/>
            <a:ext cx="10178322" cy="55006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AR" sz="2400" b="1" dirty="0">
                <a:solidFill>
                  <a:srgbClr val="002060"/>
                </a:solidFill>
              </a:rPr>
              <a:t>opción A</a:t>
            </a:r>
          </a:p>
          <a:p>
            <a:pPr marL="0" indent="0">
              <a:buNone/>
            </a:pPr>
            <a:r>
              <a:rPr lang="es-AR" sz="2400" dirty="0"/>
              <a:t> Desde Android 13 (API 33) </a:t>
            </a:r>
            <a:r>
              <a:rPr lang="es-AR" sz="2400" b="1" dirty="0" err="1"/>
              <a:t>onBackPressed</a:t>
            </a:r>
            <a:r>
              <a:rPr lang="es-AR" sz="2400" dirty="0"/>
              <a:t>() y </a:t>
            </a:r>
            <a:r>
              <a:rPr lang="es-AR" sz="2400" b="1" dirty="0" err="1"/>
              <a:t>super.onBackPressed</a:t>
            </a:r>
            <a:r>
              <a:rPr lang="es-AR" sz="2400" dirty="0"/>
              <a:t>() quedaron </a:t>
            </a:r>
            <a:r>
              <a:rPr lang="es-AR" sz="2400" dirty="0" err="1"/>
              <a:t>deprecated</a:t>
            </a:r>
            <a:r>
              <a:rPr lang="es-AR" sz="2400" dirty="0"/>
              <a:t>.</a:t>
            </a:r>
          </a:p>
          <a:p>
            <a:pPr marL="0" indent="0">
              <a:buNone/>
            </a:pPr>
            <a:endParaRPr lang="es-AR" sz="2400" dirty="0"/>
          </a:p>
          <a:p>
            <a:pPr marL="0" indent="0">
              <a:buNone/>
            </a:pPr>
            <a:r>
              <a:rPr lang="es-AR" sz="2400" dirty="0"/>
              <a:t>Para esto podemos la nueva forma. Ahora Google recomienda usar el nuevo </a:t>
            </a:r>
            <a:r>
              <a:rPr lang="es-AR" sz="2400" b="1" dirty="0" err="1">
                <a:solidFill>
                  <a:srgbClr val="FF0000"/>
                </a:solidFill>
              </a:rPr>
              <a:t>OnBackPressedDispatcher</a:t>
            </a:r>
            <a:r>
              <a:rPr lang="es-AR" sz="2400" dirty="0"/>
              <a:t> junto con </a:t>
            </a:r>
            <a:r>
              <a:rPr lang="es-AR" sz="2400" dirty="0" err="1">
                <a:solidFill>
                  <a:srgbClr val="FF0000"/>
                </a:solidFill>
              </a:rPr>
              <a:t>OnBackPressedCallback</a:t>
            </a:r>
            <a:r>
              <a:rPr lang="es-AR" sz="2400" dirty="0"/>
              <a:t>.</a:t>
            </a:r>
          </a:p>
          <a:p>
            <a:pPr marL="0" indent="0">
              <a:buNone/>
            </a:pPr>
            <a:r>
              <a:rPr lang="es-ES" sz="2400" b="1" dirty="0"/>
              <a:t>Verifica 2 cosas:</a:t>
            </a:r>
          </a:p>
          <a:p>
            <a:r>
              <a:rPr lang="es-AR" sz="2400" dirty="0"/>
              <a:t>Importado en el </a:t>
            </a:r>
            <a:r>
              <a:rPr lang="es-AR" sz="2400" dirty="0" err="1"/>
              <a:t>kt</a:t>
            </a:r>
            <a:endParaRPr lang="es-AR" sz="2400" dirty="0"/>
          </a:p>
          <a:p>
            <a:pPr marL="0" indent="0">
              <a:buNone/>
            </a:pPr>
            <a:r>
              <a:rPr lang="es-AR" sz="2400" b="1" dirty="0" err="1">
                <a:solidFill>
                  <a:srgbClr val="FF0000"/>
                </a:solidFill>
              </a:rPr>
              <a:t>import</a:t>
            </a:r>
            <a:r>
              <a:rPr lang="es-AR" sz="2400" b="1" dirty="0">
                <a:solidFill>
                  <a:srgbClr val="FF0000"/>
                </a:solidFill>
              </a:rPr>
              <a:t> </a:t>
            </a:r>
            <a:r>
              <a:rPr lang="es-AR" sz="2400" b="1" dirty="0" err="1">
                <a:solidFill>
                  <a:srgbClr val="FF0000"/>
                </a:solidFill>
              </a:rPr>
              <a:t>androidx.activity.OnBackPressedCallback</a:t>
            </a:r>
            <a:endParaRPr lang="es-AR" sz="2400" b="1" dirty="0">
              <a:solidFill>
                <a:srgbClr val="FF0000"/>
              </a:solidFill>
            </a:endParaRPr>
          </a:p>
          <a:p>
            <a:r>
              <a:rPr lang="es-ES" sz="2400" dirty="0"/>
              <a:t>Que tengas la </a:t>
            </a:r>
            <a:r>
              <a:rPr lang="es-ES" sz="2400" b="1" dirty="0"/>
              <a:t>dependencia de </a:t>
            </a:r>
            <a:r>
              <a:rPr lang="es-ES" sz="2400" b="1" dirty="0" err="1"/>
              <a:t>AndroidX</a:t>
            </a:r>
            <a:r>
              <a:rPr lang="es-ES" sz="2400" b="1" dirty="0"/>
              <a:t> </a:t>
            </a:r>
            <a:r>
              <a:rPr lang="es-ES" sz="2400" b="1" dirty="0" err="1"/>
              <a:t>Activity</a:t>
            </a:r>
            <a:r>
              <a:rPr lang="es-ES" sz="2400" dirty="0"/>
              <a:t> en tu </a:t>
            </a:r>
            <a:r>
              <a:rPr lang="es-ES" dirty="0" err="1"/>
              <a:t>build.gradle</a:t>
            </a:r>
            <a:r>
              <a:rPr lang="es-ES" sz="2400" dirty="0"/>
              <a:t> (app):</a:t>
            </a:r>
          </a:p>
          <a:p>
            <a:pPr marL="0" indent="0">
              <a:buNone/>
            </a:pPr>
            <a:r>
              <a:rPr lang="es-ES" sz="2400" dirty="0" err="1">
                <a:solidFill>
                  <a:srgbClr val="FF0000"/>
                </a:solidFill>
              </a:rPr>
              <a:t>implementation</a:t>
            </a:r>
            <a:r>
              <a:rPr lang="es-ES" sz="2400" dirty="0">
                <a:solidFill>
                  <a:srgbClr val="FF0000"/>
                </a:solidFill>
              </a:rPr>
              <a:t> "androidx.activity:activity-ktx:1.9.3" // última versión estable</a:t>
            </a:r>
          </a:p>
          <a:p>
            <a:pPr marL="0" indent="0">
              <a:buNone/>
            </a:pPr>
            <a:endParaRPr lang="es-AR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9086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BC1F3-B8A1-C40A-8A2C-A4977EDC9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54FBBF-8C14-1D6E-A01E-60AC81659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Web app a través de un link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09ECA53-4AC0-D5CB-81CA-2837A53CD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228725"/>
            <a:ext cx="10178322" cy="55006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AR" sz="2400" b="1" dirty="0" err="1"/>
              <a:t>webView.loadUrl</a:t>
            </a:r>
            <a:r>
              <a:rPr lang="es-AR" sz="2400" b="1" dirty="0"/>
              <a:t>("https://www.google.com")</a:t>
            </a:r>
          </a:p>
          <a:p>
            <a:pPr marL="0" indent="0">
              <a:buNone/>
            </a:pPr>
            <a:r>
              <a:rPr lang="es-AR" sz="2400" b="1" dirty="0"/>
              <a:t>        // Manejar botón atrás con el nuevo sistema</a:t>
            </a:r>
          </a:p>
          <a:p>
            <a:pPr marL="0" indent="0">
              <a:buNone/>
            </a:pPr>
            <a:r>
              <a:rPr lang="es-AR" sz="2400" b="1" dirty="0"/>
              <a:t>       </a:t>
            </a:r>
            <a:r>
              <a:rPr lang="es-AR" b="1" dirty="0"/>
              <a:t> </a:t>
            </a:r>
            <a:r>
              <a:rPr lang="es-AR" b="1" dirty="0" err="1">
                <a:solidFill>
                  <a:srgbClr val="FF0000"/>
                </a:solidFill>
              </a:rPr>
              <a:t>onBackPressedDispatcher.addCallback</a:t>
            </a:r>
            <a:r>
              <a:rPr lang="es-AR" b="1" dirty="0">
                <a:solidFill>
                  <a:srgbClr val="FF0000"/>
                </a:solidFill>
              </a:rPr>
              <a:t>(</a:t>
            </a:r>
            <a:r>
              <a:rPr lang="es-AR" b="1" dirty="0" err="1">
                <a:solidFill>
                  <a:srgbClr val="FF0000"/>
                </a:solidFill>
              </a:rPr>
              <a:t>this</a:t>
            </a:r>
            <a:r>
              <a:rPr lang="es-AR" b="1" dirty="0">
                <a:solidFill>
                  <a:srgbClr val="FF0000"/>
                </a:solidFill>
              </a:rPr>
              <a:t>, </a:t>
            </a:r>
            <a:r>
              <a:rPr lang="es-AR" b="1" dirty="0" err="1">
                <a:solidFill>
                  <a:srgbClr val="FF0000"/>
                </a:solidFill>
              </a:rPr>
              <a:t>object</a:t>
            </a:r>
            <a:r>
              <a:rPr lang="es-AR" b="1" dirty="0">
                <a:solidFill>
                  <a:srgbClr val="FF0000"/>
                </a:solidFill>
              </a:rPr>
              <a:t> : </a:t>
            </a:r>
            <a:r>
              <a:rPr lang="es-AR" b="1" dirty="0" err="1">
                <a:solidFill>
                  <a:srgbClr val="FF0000"/>
                </a:solidFill>
              </a:rPr>
              <a:t>OnBackPressedCallback</a:t>
            </a:r>
            <a:r>
              <a:rPr lang="es-AR" b="1" dirty="0">
                <a:solidFill>
                  <a:srgbClr val="FF0000"/>
                </a:solidFill>
              </a:rPr>
              <a:t>(true) {</a:t>
            </a:r>
          </a:p>
          <a:p>
            <a:pPr marL="0" indent="0">
              <a:buNone/>
            </a:pPr>
            <a:r>
              <a:rPr lang="es-AR" b="1" dirty="0">
                <a:solidFill>
                  <a:srgbClr val="FF0000"/>
                </a:solidFill>
              </a:rPr>
              <a:t>            </a:t>
            </a:r>
            <a:r>
              <a:rPr lang="es-AR" b="1" dirty="0" err="1">
                <a:solidFill>
                  <a:srgbClr val="FF0000"/>
                </a:solidFill>
              </a:rPr>
              <a:t>override</a:t>
            </a:r>
            <a:r>
              <a:rPr lang="es-AR" b="1" dirty="0">
                <a:solidFill>
                  <a:srgbClr val="FF0000"/>
                </a:solidFill>
              </a:rPr>
              <a:t> </a:t>
            </a:r>
            <a:r>
              <a:rPr lang="es-AR" b="1" dirty="0" err="1">
                <a:solidFill>
                  <a:srgbClr val="FF0000"/>
                </a:solidFill>
              </a:rPr>
              <a:t>fun</a:t>
            </a:r>
            <a:r>
              <a:rPr lang="es-AR" b="1" dirty="0">
                <a:solidFill>
                  <a:srgbClr val="FF0000"/>
                </a:solidFill>
              </a:rPr>
              <a:t> </a:t>
            </a:r>
            <a:r>
              <a:rPr lang="es-AR" b="1" dirty="0" err="1">
                <a:solidFill>
                  <a:srgbClr val="FF0000"/>
                </a:solidFill>
              </a:rPr>
              <a:t>handleOnBackPressed</a:t>
            </a:r>
            <a:r>
              <a:rPr lang="es-AR" b="1" dirty="0">
                <a:solidFill>
                  <a:srgbClr val="FF0000"/>
                </a:solidFill>
              </a:rPr>
              <a:t>() {</a:t>
            </a:r>
          </a:p>
          <a:p>
            <a:pPr marL="0" indent="0">
              <a:buNone/>
            </a:pPr>
            <a:r>
              <a:rPr lang="es-AR" b="1" dirty="0">
                <a:solidFill>
                  <a:srgbClr val="FF0000"/>
                </a:solidFill>
              </a:rPr>
              <a:t>                </a:t>
            </a:r>
            <a:r>
              <a:rPr lang="es-AR" b="1" dirty="0" err="1">
                <a:solidFill>
                  <a:srgbClr val="FF0000"/>
                </a:solidFill>
              </a:rPr>
              <a:t>if</a:t>
            </a:r>
            <a:r>
              <a:rPr lang="es-AR" b="1" dirty="0">
                <a:solidFill>
                  <a:srgbClr val="FF0000"/>
                </a:solidFill>
              </a:rPr>
              <a:t> (</a:t>
            </a:r>
            <a:r>
              <a:rPr lang="es-AR" b="1" dirty="0" err="1">
                <a:solidFill>
                  <a:srgbClr val="FF0000"/>
                </a:solidFill>
              </a:rPr>
              <a:t>webView.canGoBack</a:t>
            </a:r>
            <a:r>
              <a:rPr lang="es-AR" b="1" dirty="0">
                <a:solidFill>
                  <a:srgbClr val="FF0000"/>
                </a:solidFill>
              </a:rPr>
              <a:t>()) {</a:t>
            </a:r>
          </a:p>
          <a:p>
            <a:pPr marL="0" indent="0">
              <a:buNone/>
            </a:pPr>
            <a:r>
              <a:rPr lang="es-AR" b="1" dirty="0">
                <a:solidFill>
                  <a:srgbClr val="FF0000"/>
                </a:solidFill>
              </a:rPr>
              <a:t>                    </a:t>
            </a:r>
            <a:r>
              <a:rPr lang="es-AR" b="1" dirty="0" err="1">
                <a:solidFill>
                  <a:srgbClr val="FF0000"/>
                </a:solidFill>
              </a:rPr>
              <a:t>webView.goBack</a:t>
            </a:r>
            <a:r>
              <a:rPr lang="es-AR" b="1" dirty="0">
                <a:solidFill>
                  <a:srgbClr val="FF0000"/>
                </a:solidFill>
              </a:rPr>
              <a:t>()</a:t>
            </a:r>
          </a:p>
          <a:p>
            <a:pPr marL="0" indent="0">
              <a:buNone/>
            </a:pPr>
            <a:r>
              <a:rPr lang="es-AR" b="1" dirty="0">
                <a:solidFill>
                  <a:srgbClr val="FF0000"/>
                </a:solidFill>
              </a:rPr>
              <a:t>                } </a:t>
            </a:r>
            <a:r>
              <a:rPr lang="es-AR" b="1" dirty="0" err="1">
                <a:solidFill>
                  <a:srgbClr val="FF0000"/>
                </a:solidFill>
              </a:rPr>
              <a:t>else</a:t>
            </a:r>
            <a:r>
              <a:rPr lang="es-AR" b="1" dirty="0">
                <a:solidFill>
                  <a:srgbClr val="FF0000"/>
                </a:solidFill>
              </a:rPr>
              <a:t> {</a:t>
            </a:r>
          </a:p>
          <a:p>
            <a:pPr marL="0" indent="0">
              <a:buNone/>
            </a:pPr>
            <a:r>
              <a:rPr lang="es-AR" b="1" dirty="0">
                <a:solidFill>
                  <a:srgbClr val="FF0000"/>
                </a:solidFill>
              </a:rPr>
              <a:t>                    // Si no hay historial, terminar la </a:t>
            </a:r>
            <a:r>
              <a:rPr lang="es-AR" b="1" dirty="0" err="1">
                <a:solidFill>
                  <a:srgbClr val="FF0000"/>
                </a:solidFill>
              </a:rPr>
              <a:t>activity</a:t>
            </a:r>
            <a:endParaRPr lang="es-AR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s-AR" b="1" dirty="0">
                <a:solidFill>
                  <a:srgbClr val="FF0000"/>
                </a:solidFill>
              </a:rPr>
              <a:t>                    </a:t>
            </a:r>
            <a:r>
              <a:rPr lang="es-AR" b="1" dirty="0" err="1">
                <a:solidFill>
                  <a:srgbClr val="FF0000"/>
                </a:solidFill>
              </a:rPr>
              <a:t>finish</a:t>
            </a:r>
            <a:r>
              <a:rPr lang="es-AR" b="1" dirty="0">
                <a:solidFill>
                  <a:srgbClr val="FF0000"/>
                </a:solidFill>
              </a:rPr>
              <a:t>()</a:t>
            </a:r>
          </a:p>
          <a:p>
            <a:pPr marL="0" indent="0">
              <a:buNone/>
            </a:pPr>
            <a:r>
              <a:rPr lang="es-AR" b="1" dirty="0">
                <a:solidFill>
                  <a:srgbClr val="FF0000"/>
                </a:solidFill>
              </a:rPr>
              <a:t>                }</a:t>
            </a:r>
          </a:p>
          <a:p>
            <a:pPr marL="0" indent="0">
              <a:buNone/>
            </a:pPr>
            <a:r>
              <a:rPr lang="es-AR" b="1" dirty="0">
                <a:solidFill>
                  <a:srgbClr val="FF0000"/>
                </a:solidFill>
              </a:rPr>
              <a:t>            }</a:t>
            </a:r>
          </a:p>
          <a:p>
            <a:pPr marL="0" indent="0">
              <a:buNone/>
            </a:pPr>
            <a:r>
              <a:rPr lang="es-AR" b="1" dirty="0">
                <a:solidFill>
                  <a:srgbClr val="FF0000"/>
                </a:solidFill>
              </a:rPr>
              <a:t>        })</a:t>
            </a:r>
          </a:p>
        </p:txBody>
      </p:sp>
    </p:spTree>
    <p:extLst>
      <p:ext uri="{BB962C8B-B14F-4D97-AF65-F5344CB8AC3E}">
        <p14:creationId xmlns:p14="http://schemas.microsoft.com/office/powerpoint/2010/main" val="296757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BC3D7-986B-1F43-13F5-019453F98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3675E3-6E30-BA20-D800-F6448519B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Web app a través de </a:t>
            </a:r>
            <a:r>
              <a:rPr lang="es-AR" dirty="0" err="1"/>
              <a:t>html,js,css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77267D2-6DCE-24B3-BFA0-D89D31AD8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228725"/>
            <a:ext cx="10178322" cy="55006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AR" sz="2800" b="1" dirty="0" err="1"/>
              <a:t>Opcion</a:t>
            </a:r>
            <a:r>
              <a:rPr lang="es-AR" sz="2800" b="1" dirty="0"/>
              <a:t> 2:  </a:t>
            </a:r>
            <a:r>
              <a:rPr lang="es-AR" sz="2800" dirty="0"/>
              <a:t>compilar en una app un sitio web completo hecho con </a:t>
            </a:r>
            <a:r>
              <a:rPr lang="es-AR" sz="2800" dirty="0" err="1"/>
              <a:t>html</a:t>
            </a:r>
            <a:r>
              <a:rPr lang="es-AR" sz="2800" dirty="0"/>
              <a:t>, </a:t>
            </a:r>
            <a:r>
              <a:rPr lang="es-AR" sz="2800" dirty="0" err="1"/>
              <a:t>js</a:t>
            </a:r>
            <a:r>
              <a:rPr lang="es-AR" sz="2800" dirty="0"/>
              <a:t>, </a:t>
            </a:r>
            <a:r>
              <a:rPr lang="es-AR" sz="2800" dirty="0" err="1"/>
              <a:t>css</a:t>
            </a:r>
            <a:r>
              <a:rPr lang="es-AR" sz="2800" dirty="0"/>
              <a:t>, imágenes y demás componentes web.</a:t>
            </a:r>
          </a:p>
          <a:p>
            <a:pPr marL="0" indent="0">
              <a:buNone/>
            </a:pPr>
            <a:r>
              <a:rPr lang="es-ES" sz="2800" dirty="0"/>
              <a:t>Dentro de tu proyecto, </a:t>
            </a:r>
            <a:r>
              <a:rPr lang="es-ES" sz="2800" dirty="0" err="1"/>
              <a:t>creá</a:t>
            </a:r>
            <a:r>
              <a:rPr lang="es-ES" sz="2800" dirty="0"/>
              <a:t> la </a:t>
            </a:r>
          </a:p>
          <a:p>
            <a:pPr marL="0" indent="0">
              <a:buNone/>
            </a:pPr>
            <a:r>
              <a:rPr lang="es-ES" sz="2800" dirty="0" err="1"/>
              <a:t>carpeta:app</a:t>
            </a:r>
            <a:r>
              <a:rPr lang="es-ES" sz="2800" dirty="0"/>
              <a:t>/</a:t>
            </a:r>
            <a:r>
              <a:rPr lang="es-ES" sz="2800" dirty="0" err="1"/>
              <a:t>src</a:t>
            </a:r>
            <a:r>
              <a:rPr lang="es-ES" sz="2800" dirty="0"/>
              <a:t>/</a:t>
            </a:r>
            <a:r>
              <a:rPr lang="es-ES" sz="2800" dirty="0" err="1"/>
              <a:t>main</a:t>
            </a:r>
            <a:r>
              <a:rPr lang="es-ES" sz="2800" dirty="0"/>
              <a:t>/</a:t>
            </a:r>
            <a:r>
              <a:rPr lang="es-ES" sz="2800" b="1" dirty="0" err="1">
                <a:solidFill>
                  <a:srgbClr val="FF0000"/>
                </a:solidFill>
              </a:rPr>
              <a:t>assets</a:t>
            </a:r>
            <a:r>
              <a:rPr lang="es-ES" sz="2800" dirty="0"/>
              <a:t>/</a:t>
            </a:r>
          </a:p>
          <a:p>
            <a:pPr marL="0" indent="0">
              <a:buNone/>
            </a:pPr>
            <a:r>
              <a:rPr lang="es-ES" sz="2800" dirty="0" err="1"/>
              <a:t>Copiá</a:t>
            </a:r>
            <a:r>
              <a:rPr lang="es-ES" sz="2800" dirty="0"/>
              <a:t> ahí tu </a:t>
            </a:r>
            <a:r>
              <a:rPr lang="es-ES" sz="2800" b="1" dirty="0"/>
              <a:t>index.html</a:t>
            </a:r>
            <a:r>
              <a:rPr lang="es-ES" sz="2800" dirty="0"/>
              <a:t> y todos los recursos (</a:t>
            </a:r>
            <a:r>
              <a:rPr lang="es-ES" sz="2800" dirty="0" err="1"/>
              <a:t>css</a:t>
            </a:r>
            <a:r>
              <a:rPr lang="es-ES" sz="2800" dirty="0"/>
              <a:t>, </a:t>
            </a:r>
            <a:r>
              <a:rPr lang="es-ES" sz="2800" dirty="0" err="1"/>
              <a:t>js</a:t>
            </a:r>
            <a:r>
              <a:rPr lang="es-ES" sz="2800" dirty="0"/>
              <a:t>, </a:t>
            </a:r>
            <a:r>
              <a:rPr lang="es-ES" sz="2800" dirty="0" err="1"/>
              <a:t>imagenes</a:t>
            </a:r>
            <a:r>
              <a:rPr lang="es-ES" sz="2800" dirty="0"/>
              <a:t>).</a:t>
            </a:r>
          </a:p>
          <a:p>
            <a:pPr marL="0" indent="0">
              <a:buNone/>
            </a:pPr>
            <a:r>
              <a:rPr lang="es-ES" sz="2800" dirty="0"/>
              <a:t>Asegurase de que las rutas sean relativas en los </a:t>
            </a:r>
            <a:r>
              <a:rPr lang="es-ES" sz="2800" dirty="0" err="1"/>
              <a:t>html</a:t>
            </a:r>
            <a:r>
              <a:rPr lang="es-ES" sz="2800" dirty="0"/>
              <a:t>(</a:t>
            </a:r>
            <a:r>
              <a:rPr lang="es-ES" sz="2800" dirty="0" err="1"/>
              <a:t>ej</a:t>
            </a:r>
            <a:r>
              <a:rPr lang="es-ES" sz="2800" dirty="0"/>
              <a:t>: </a:t>
            </a:r>
            <a:r>
              <a:rPr lang="es-ES" sz="2800" dirty="0" err="1"/>
              <a:t>css</a:t>
            </a:r>
            <a:r>
              <a:rPr lang="es-ES" sz="2800" dirty="0"/>
              <a:t>/style.css).</a:t>
            </a:r>
          </a:p>
          <a:p>
            <a:pPr marL="0" indent="0">
              <a:buNone/>
            </a:pPr>
            <a:endParaRPr lang="es-ES" sz="2800" dirty="0"/>
          </a:p>
          <a:p>
            <a:pPr marL="0" indent="0">
              <a:buNone/>
            </a:pPr>
            <a:r>
              <a:rPr lang="es-ES" sz="2800" dirty="0"/>
              <a:t>En la </a:t>
            </a:r>
            <a:r>
              <a:rPr lang="es-ES" sz="2800" dirty="0" err="1"/>
              <a:t>url</a:t>
            </a:r>
            <a:r>
              <a:rPr lang="es-ES" sz="2800" dirty="0"/>
              <a:t> cargar el file del </a:t>
            </a:r>
            <a:r>
              <a:rPr lang="es-ES" sz="2800" dirty="0" err="1"/>
              <a:t>index</a:t>
            </a:r>
            <a:endParaRPr lang="es-ES" sz="2800" dirty="0"/>
          </a:p>
          <a:p>
            <a:pPr marL="0" indent="0">
              <a:buNone/>
            </a:pPr>
            <a:r>
              <a:rPr lang="es-AR" sz="2800" dirty="0" err="1">
                <a:solidFill>
                  <a:srgbClr val="FF0000"/>
                </a:solidFill>
              </a:rPr>
              <a:t>webView.loadUrl</a:t>
            </a:r>
            <a:r>
              <a:rPr lang="es-AR" sz="2800" dirty="0">
                <a:solidFill>
                  <a:srgbClr val="FF0000"/>
                </a:solidFill>
              </a:rPr>
              <a:t>("file:///android_asset/index.html")</a:t>
            </a:r>
          </a:p>
          <a:p>
            <a:pPr marL="0" indent="0">
              <a:buNone/>
            </a:pPr>
            <a:r>
              <a:rPr lang="es-AR" sz="2800" dirty="0"/>
              <a:t>(ver que no lleva la “s” el </a:t>
            </a:r>
            <a:r>
              <a:rPr lang="es-AR" sz="2800" dirty="0" err="1"/>
              <a:t>asset</a:t>
            </a:r>
            <a:r>
              <a:rPr lang="es-AR" sz="2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151569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DD454-9072-A8D7-4463-6174B84FA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C6432F-0A89-3DD2-86AE-8AB1FB7A6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Web app a través de </a:t>
            </a:r>
            <a:r>
              <a:rPr lang="es-AR" dirty="0" err="1"/>
              <a:t>html,js,css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2F83CE-56F5-DD36-AEAE-A3AF2AFA8A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228725"/>
            <a:ext cx="10178322" cy="55006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AR" sz="2800" dirty="0"/>
              <a:t>¿Como interactuar con la  parte nativa desde una </a:t>
            </a:r>
            <a:r>
              <a:rPr lang="es-AR" sz="2800" dirty="0" err="1"/>
              <a:t>webapp</a:t>
            </a:r>
            <a:r>
              <a:rPr lang="es-AR" sz="2800" dirty="0"/>
              <a:t>?</a:t>
            </a:r>
          </a:p>
          <a:p>
            <a:pPr marL="0" indent="0" algn="ctr">
              <a:buNone/>
            </a:pPr>
            <a:r>
              <a:rPr lang="es-AR" sz="2800" b="1" dirty="0">
                <a:solidFill>
                  <a:srgbClr val="FF0000"/>
                </a:solidFill>
              </a:rPr>
              <a:t>Con java:</a:t>
            </a:r>
            <a:endParaRPr lang="es-AR" sz="24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s-AR" dirty="0"/>
              <a:t>// En tu Actividad que contiene el </a:t>
            </a:r>
            <a:r>
              <a:rPr lang="es-AR" dirty="0" err="1"/>
              <a:t>WebView</a:t>
            </a:r>
            <a:br>
              <a:rPr lang="es-AR" dirty="0"/>
            </a:br>
            <a:r>
              <a:rPr lang="es-AR" dirty="0"/>
              <a:t>    </a:t>
            </a:r>
            <a:r>
              <a:rPr lang="es-AR" dirty="0" err="1"/>
              <a:t>WebView</a:t>
            </a:r>
            <a:r>
              <a:rPr lang="es-AR" dirty="0"/>
              <a:t> </a:t>
            </a:r>
            <a:r>
              <a:rPr lang="es-AR" dirty="0" err="1"/>
              <a:t>myWebView</a:t>
            </a:r>
            <a:r>
              <a:rPr lang="es-AR" dirty="0"/>
              <a:t> = </a:t>
            </a:r>
            <a:r>
              <a:rPr lang="es-AR" dirty="0" err="1"/>
              <a:t>findViewById</a:t>
            </a:r>
            <a:r>
              <a:rPr lang="es-AR" dirty="0"/>
              <a:t>(</a:t>
            </a:r>
            <a:r>
              <a:rPr lang="es-AR" dirty="0" err="1"/>
              <a:t>R.id.webview</a:t>
            </a:r>
            <a:r>
              <a:rPr lang="es-AR" dirty="0"/>
              <a:t>);</a:t>
            </a:r>
            <a:br>
              <a:rPr lang="es-AR" dirty="0"/>
            </a:br>
            <a:r>
              <a:rPr lang="es-AR" dirty="0"/>
              <a:t>    </a:t>
            </a:r>
            <a:r>
              <a:rPr lang="es-AR" dirty="0" err="1"/>
              <a:t>myWebView.setWebViewClient</a:t>
            </a:r>
            <a:r>
              <a:rPr lang="es-AR" dirty="0"/>
              <a:t>(new </a:t>
            </a:r>
            <a:r>
              <a:rPr lang="es-AR" dirty="0" err="1"/>
              <a:t>WebViewClient</a:t>
            </a:r>
            <a:r>
              <a:rPr lang="es-AR" dirty="0"/>
              <a:t>() {</a:t>
            </a:r>
            <a:br>
              <a:rPr lang="es-AR" dirty="0"/>
            </a:br>
            <a:r>
              <a:rPr lang="es-AR" dirty="0"/>
              <a:t>        @Override</a:t>
            </a:r>
            <a:br>
              <a:rPr lang="es-AR" dirty="0"/>
            </a:br>
            <a:r>
              <a:rPr lang="es-AR" dirty="0"/>
              <a:t>        </a:t>
            </a:r>
            <a:r>
              <a:rPr lang="es-AR" dirty="0" err="1"/>
              <a:t>public</a:t>
            </a:r>
            <a:r>
              <a:rPr lang="es-AR" dirty="0"/>
              <a:t> </a:t>
            </a:r>
            <a:r>
              <a:rPr lang="es-AR" dirty="0" err="1"/>
              <a:t>boolean</a:t>
            </a:r>
            <a:r>
              <a:rPr lang="es-AR" dirty="0"/>
              <a:t> </a:t>
            </a:r>
            <a:r>
              <a:rPr lang="es-AR" dirty="0" err="1"/>
              <a:t>shouldOverrideUrlLoading</a:t>
            </a:r>
            <a:r>
              <a:rPr lang="es-AR" dirty="0"/>
              <a:t>(</a:t>
            </a:r>
            <a:r>
              <a:rPr lang="es-AR" dirty="0" err="1"/>
              <a:t>WebView</a:t>
            </a:r>
            <a:r>
              <a:rPr lang="es-AR" dirty="0"/>
              <a:t> </a:t>
            </a:r>
            <a:r>
              <a:rPr lang="es-AR" dirty="0" err="1"/>
              <a:t>view</a:t>
            </a:r>
            <a:r>
              <a:rPr lang="es-AR" dirty="0"/>
              <a:t>, </a:t>
            </a:r>
            <a:r>
              <a:rPr lang="es-AR" dirty="0" err="1"/>
              <a:t>String</a:t>
            </a:r>
            <a:r>
              <a:rPr lang="es-AR" dirty="0"/>
              <a:t> </a:t>
            </a:r>
            <a:r>
              <a:rPr lang="es-AR" dirty="0" err="1"/>
              <a:t>url</a:t>
            </a:r>
            <a:r>
              <a:rPr lang="es-AR" dirty="0"/>
              <a:t>) {</a:t>
            </a:r>
            <a:br>
              <a:rPr lang="es-AR" dirty="0"/>
            </a:br>
            <a:r>
              <a:rPr lang="es-AR" dirty="0"/>
              <a:t>            </a:t>
            </a:r>
            <a:r>
              <a:rPr lang="es-AR" dirty="0" err="1"/>
              <a:t>if</a:t>
            </a:r>
            <a:r>
              <a:rPr lang="es-AR" dirty="0"/>
              <a:t> (</a:t>
            </a:r>
            <a:r>
              <a:rPr lang="es-AR" dirty="0" err="1"/>
              <a:t>url.equals</a:t>
            </a:r>
            <a:r>
              <a:rPr lang="es-AR" dirty="0"/>
              <a:t>("</a:t>
            </a:r>
            <a:r>
              <a:rPr lang="es-AR" dirty="0" err="1"/>
              <a:t>javascript:closeApp</a:t>
            </a:r>
            <a:r>
              <a:rPr lang="es-AR" dirty="0"/>
              <a:t>()")) {</a:t>
            </a:r>
            <a:br>
              <a:rPr lang="es-AR" dirty="0"/>
            </a:br>
            <a:r>
              <a:rPr lang="es-AR" dirty="0"/>
              <a:t>                </a:t>
            </a:r>
            <a:r>
              <a:rPr lang="es-AR" dirty="0" err="1"/>
              <a:t>finish</a:t>
            </a:r>
            <a:r>
              <a:rPr lang="es-AR" dirty="0"/>
              <a:t>(); // Cierra la actividad</a:t>
            </a:r>
            <a:br>
              <a:rPr lang="es-AR" dirty="0"/>
            </a:br>
            <a:r>
              <a:rPr lang="es-AR" dirty="0"/>
              <a:t>                </a:t>
            </a:r>
            <a:r>
              <a:rPr lang="es-AR" dirty="0" err="1"/>
              <a:t>return</a:t>
            </a:r>
            <a:r>
              <a:rPr lang="es-AR" dirty="0"/>
              <a:t> true; // Indica que hemos manejado la URL</a:t>
            </a:r>
            <a:br>
              <a:rPr lang="es-AR" dirty="0"/>
            </a:br>
            <a:r>
              <a:rPr lang="es-AR" dirty="0"/>
              <a:t>            }</a:t>
            </a:r>
            <a:br>
              <a:rPr lang="es-AR" dirty="0"/>
            </a:br>
            <a:r>
              <a:rPr lang="es-AR" dirty="0"/>
              <a:t>            </a:t>
            </a:r>
            <a:r>
              <a:rPr lang="es-AR" dirty="0" err="1"/>
              <a:t>return</a:t>
            </a:r>
            <a:r>
              <a:rPr lang="es-AR" dirty="0"/>
              <a:t> </a:t>
            </a:r>
            <a:r>
              <a:rPr lang="es-AR" dirty="0" err="1"/>
              <a:t>super.shouldOverrideUrlLoading</a:t>
            </a:r>
            <a:r>
              <a:rPr lang="es-AR" dirty="0"/>
              <a:t>(</a:t>
            </a:r>
            <a:r>
              <a:rPr lang="es-AR" dirty="0" err="1"/>
              <a:t>view</a:t>
            </a:r>
            <a:r>
              <a:rPr lang="es-AR" dirty="0"/>
              <a:t>, </a:t>
            </a:r>
            <a:r>
              <a:rPr lang="es-AR" dirty="0" err="1"/>
              <a:t>url</a:t>
            </a:r>
            <a:r>
              <a:rPr lang="es-AR" dirty="0"/>
              <a:t>);</a:t>
            </a:r>
            <a:br>
              <a:rPr lang="es-AR" dirty="0"/>
            </a:br>
            <a:r>
              <a:rPr lang="es-AR" dirty="0"/>
              <a:t>        }</a:t>
            </a:r>
            <a:br>
              <a:rPr lang="es-AR" dirty="0"/>
            </a:br>
            <a:r>
              <a:rPr lang="es-AR" dirty="0"/>
              <a:t>    });</a:t>
            </a:r>
          </a:p>
          <a:p>
            <a:pPr marL="0" indent="0">
              <a:buNone/>
            </a:pPr>
            <a:endParaRPr lang="es-AR" sz="2800" b="1" dirty="0">
              <a:solidFill>
                <a:srgbClr val="FF0000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7E2DD83-F846-2074-3473-A31957FFD28A}"/>
              </a:ext>
            </a:extLst>
          </p:cNvPr>
          <p:cNvSpPr txBox="1"/>
          <p:nvPr/>
        </p:nvSpPr>
        <p:spPr>
          <a:xfrm>
            <a:off x="5004197" y="6083081"/>
            <a:ext cx="60936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 dirty="0">
                <a:latin typeface="Courier New" panose="02070309020205020404" pitchFamily="49" charset="0"/>
              </a:rPr>
              <a:t>&lt;a </a:t>
            </a:r>
            <a:r>
              <a:rPr lang="es-ES" b="1" dirty="0" err="1">
                <a:latin typeface="Courier New" panose="02070309020205020404" pitchFamily="49" charset="0"/>
              </a:rPr>
              <a:t>href</a:t>
            </a:r>
            <a:r>
              <a:rPr lang="es-ES" b="1" dirty="0">
                <a:latin typeface="Courier New" panose="02070309020205020404" pitchFamily="49" charset="0"/>
              </a:rPr>
              <a:t>="</a:t>
            </a:r>
            <a:r>
              <a:rPr lang="es-ES" b="1" dirty="0" err="1">
                <a:latin typeface="Courier New" panose="02070309020205020404" pitchFamily="49" charset="0"/>
              </a:rPr>
              <a:t>javascript:closeApp</a:t>
            </a:r>
            <a:r>
              <a:rPr lang="es-ES" b="1" dirty="0">
                <a:latin typeface="Courier New" panose="02070309020205020404" pitchFamily="49" charset="0"/>
              </a:rPr>
              <a:t>()"&gt;Cerrar la aplicación&lt;/a&gt;</a:t>
            </a:r>
          </a:p>
        </p:txBody>
      </p:sp>
    </p:spTree>
    <p:extLst>
      <p:ext uri="{BB962C8B-B14F-4D97-AF65-F5344CB8AC3E}">
        <p14:creationId xmlns:p14="http://schemas.microsoft.com/office/powerpoint/2010/main" val="19301592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22117-916F-8FDA-5642-E5725ADC4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982C9C-F0EE-364E-2FA5-E0289742E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Web app a través de </a:t>
            </a:r>
            <a:r>
              <a:rPr lang="es-AR" dirty="0" err="1"/>
              <a:t>html,js,css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55362E-6874-C338-B3A7-6292034165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0266" y="1357313"/>
            <a:ext cx="10178322" cy="55006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AR" sz="2800" dirty="0"/>
              <a:t>¿Como interactuar con la  parte nativa desde una </a:t>
            </a:r>
            <a:r>
              <a:rPr lang="es-AR" sz="2800" dirty="0" err="1"/>
              <a:t>webapp</a:t>
            </a:r>
            <a:r>
              <a:rPr lang="es-AR" sz="2800" dirty="0"/>
              <a:t>?</a:t>
            </a:r>
          </a:p>
          <a:p>
            <a:pPr marL="0" indent="0" algn="ctr">
              <a:buNone/>
            </a:pPr>
            <a:r>
              <a:rPr lang="es-AR" sz="2800" b="1" dirty="0">
                <a:solidFill>
                  <a:srgbClr val="FF0000"/>
                </a:solidFill>
              </a:rPr>
              <a:t>Lo mas recomendado es usando un puente</a:t>
            </a:r>
          </a:p>
          <a:p>
            <a:pPr marL="0" indent="0" algn="ctr">
              <a:buNone/>
            </a:pPr>
            <a:endParaRPr lang="es-AR" sz="28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s-AR" sz="2800" b="1" dirty="0">
                <a:solidFill>
                  <a:schemeClr val="tx1"/>
                </a:solidFill>
              </a:rPr>
              <a:t>En donde definimos los </a:t>
            </a:r>
            <a:r>
              <a:rPr lang="es-AR" sz="2800" b="1" dirty="0" err="1">
                <a:solidFill>
                  <a:schemeClr val="tx1"/>
                </a:solidFill>
              </a:rPr>
              <a:t>setting</a:t>
            </a:r>
            <a:r>
              <a:rPr lang="es-AR" sz="2800" b="1" dirty="0">
                <a:solidFill>
                  <a:schemeClr val="tx1"/>
                </a:solidFill>
              </a:rPr>
              <a:t> del </a:t>
            </a:r>
            <a:r>
              <a:rPr lang="es-AR" sz="2800" b="1" dirty="0" err="1">
                <a:solidFill>
                  <a:schemeClr val="tx1"/>
                </a:solidFill>
              </a:rPr>
              <a:t>webview</a:t>
            </a:r>
            <a:r>
              <a:rPr lang="es-AR" sz="2800" b="1" dirty="0">
                <a:solidFill>
                  <a:schemeClr val="tx1"/>
                </a:solidFill>
              </a:rPr>
              <a:t> </a:t>
            </a:r>
            <a:r>
              <a:rPr lang="es-AR" sz="2800" b="1" dirty="0" err="1">
                <a:solidFill>
                  <a:schemeClr val="tx1"/>
                </a:solidFill>
              </a:rPr>
              <a:t>agreamos</a:t>
            </a:r>
            <a:r>
              <a:rPr lang="es-AR" sz="2800" b="1" dirty="0">
                <a:solidFill>
                  <a:schemeClr val="tx1"/>
                </a:solidFill>
              </a:rPr>
              <a:t> el puente</a:t>
            </a:r>
          </a:p>
          <a:p>
            <a:pPr marL="0" indent="0">
              <a:buNone/>
            </a:pPr>
            <a:r>
              <a:rPr lang="es-AR" i="1" dirty="0"/>
              <a:t>// Agregar un "puente" JS ↔ </a:t>
            </a:r>
            <a:r>
              <a:rPr lang="es-AR" i="1" dirty="0" err="1"/>
              <a:t>Kotlin</a:t>
            </a:r>
            <a:br>
              <a:rPr lang="es-AR" i="1" dirty="0"/>
            </a:br>
            <a:r>
              <a:rPr lang="es-AR" sz="2400" b="1" dirty="0" err="1">
                <a:solidFill>
                  <a:srgbClr val="FF0000"/>
                </a:solidFill>
              </a:rPr>
              <a:t>webView.addJavascriptInterface</a:t>
            </a:r>
            <a:r>
              <a:rPr lang="es-AR" sz="2400" b="1" dirty="0">
                <a:solidFill>
                  <a:srgbClr val="FF0000"/>
                </a:solidFill>
              </a:rPr>
              <a:t>(</a:t>
            </a:r>
            <a:r>
              <a:rPr lang="es-AR" sz="2400" b="1" dirty="0" err="1">
                <a:solidFill>
                  <a:srgbClr val="FF0000"/>
                </a:solidFill>
              </a:rPr>
              <a:t>WebAppInterface</a:t>
            </a:r>
            <a:r>
              <a:rPr lang="es-AR" sz="2400" b="1" dirty="0">
                <a:solidFill>
                  <a:srgbClr val="FF0000"/>
                </a:solidFill>
              </a:rPr>
              <a:t>(</a:t>
            </a:r>
            <a:r>
              <a:rPr lang="es-AR" sz="2400" b="1" dirty="0" err="1">
                <a:solidFill>
                  <a:srgbClr val="FF0000"/>
                </a:solidFill>
              </a:rPr>
              <a:t>this</a:t>
            </a:r>
            <a:r>
              <a:rPr lang="es-AR" sz="2400" b="1" dirty="0">
                <a:solidFill>
                  <a:srgbClr val="FF0000"/>
                </a:solidFill>
              </a:rPr>
              <a:t>), "Android")</a:t>
            </a:r>
          </a:p>
          <a:p>
            <a:pPr marL="0" indent="0">
              <a:buNone/>
            </a:pPr>
            <a:r>
              <a:rPr lang="es-AR" sz="2400" b="1" dirty="0">
                <a:solidFill>
                  <a:srgbClr val="FF0000"/>
                </a:solidFill>
              </a:rPr>
              <a:t>//”Android” es el nombre que usaremos para acceder al puente</a:t>
            </a:r>
          </a:p>
          <a:p>
            <a:pPr marL="0" indent="0">
              <a:buNone/>
            </a:pPr>
            <a:endParaRPr lang="es-AR" sz="24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s-AR" sz="2400" b="1" dirty="0" err="1">
                <a:solidFill>
                  <a:srgbClr val="FF0000"/>
                </a:solidFill>
              </a:rPr>
              <a:t>Cont</a:t>
            </a:r>
            <a:r>
              <a:rPr lang="es-AR" sz="2400" b="1" dirty="0">
                <a:solidFill>
                  <a:srgbClr val="FF0000"/>
                </a:solidFill>
              </a:rPr>
              <a:t>  -&gt; </a:t>
            </a:r>
          </a:p>
          <a:p>
            <a:pPr marL="0" indent="0">
              <a:buNone/>
            </a:pPr>
            <a:endParaRPr lang="es-AR" sz="24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s-AR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91902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48F9D-FEA8-7AB8-1412-EF8F32108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CBB437-2E6B-3143-8107-C05284559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Web app a través de </a:t>
            </a:r>
            <a:r>
              <a:rPr lang="es-AR" dirty="0" err="1"/>
              <a:t>html,js,css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EA3AD2F-0E78-72A6-B087-B8D2BF07CE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228725"/>
            <a:ext cx="10178322" cy="55006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AR" sz="2800" dirty="0"/>
              <a:t>Antes de la llave de la clase colocamos la función que se ejecutara, en este caso el un botón que cierre la app desde </a:t>
            </a:r>
            <a:r>
              <a:rPr lang="es-AR" sz="2800" dirty="0" err="1"/>
              <a:t>html</a:t>
            </a:r>
            <a:endParaRPr lang="es-AR" sz="2800" dirty="0"/>
          </a:p>
          <a:p>
            <a:pPr marL="0" indent="0">
              <a:buNone/>
            </a:pPr>
            <a:r>
              <a:rPr lang="es-AR" sz="2400" b="1" dirty="0" err="1">
                <a:solidFill>
                  <a:srgbClr val="FF0000"/>
                </a:solidFill>
              </a:rPr>
              <a:t>class</a:t>
            </a:r>
            <a:r>
              <a:rPr lang="es-AR" sz="2400" b="1" dirty="0">
                <a:solidFill>
                  <a:srgbClr val="FF0000"/>
                </a:solidFill>
              </a:rPr>
              <a:t> </a:t>
            </a:r>
            <a:r>
              <a:rPr lang="es-AR" sz="2400" b="1" dirty="0" err="1">
                <a:solidFill>
                  <a:srgbClr val="FF0000"/>
                </a:solidFill>
              </a:rPr>
              <a:t>WebAppInterface</a:t>
            </a:r>
            <a:r>
              <a:rPr lang="es-AR" sz="2400" b="1" dirty="0">
                <a:solidFill>
                  <a:srgbClr val="FF0000"/>
                </a:solidFill>
              </a:rPr>
              <a:t>(</a:t>
            </a:r>
            <a:r>
              <a:rPr lang="es-AR" sz="2400" b="1" dirty="0" err="1">
                <a:solidFill>
                  <a:srgbClr val="FF0000"/>
                </a:solidFill>
              </a:rPr>
              <a:t>private</a:t>
            </a:r>
            <a:r>
              <a:rPr lang="es-AR" sz="2400" b="1" dirty="0">
                <a:solidFill>
                  <a:srgbClr val="FF0000"/>
                </a:solidFill>
              </a:rPr>
              <a:t> val </a:t>
            </a:r>
            <a:r>
              <a:rPr lang="es-AR" sz="2400" b="1" dirty="0" err="1">
                <a:solidFill>
                  <a:srgbClr val="FF0000"/>
                </a:solidFill>
              </a:rPr>
              <a:t>activity</a:t>
            </a:r>
            <a:r>
              <a:rPr lang="es-AR" sz="2400" b="1" dirty="0">
                <a:solidFill>
                  <a:srgbClr val="FF0000"/>
                </a:solidFill>
              </a:rPr>
              <a:t>: </a:t>
            </a:r>
            <a:r>
              <a:rPr lang="es-AR" sz="2400" b="1" dirty="0" err="1">
                <a:solidFill>
                  <a:srgbClr val="FF0000"/>
                </a:solidFill>
              </a:rPr>
              <a:t>Activity</a:t>
            </a:r>
            <a:r>
              <a:rPr lang="es-AR" sz="2400" b="1" dirty="0">
                <a:solidFill>
                  <a:srgbClr val="FF0000"/>
                </a:solidFill>
              </a:rPr>
              <a:t>) {</a:t>
            </a:r>
          </a:p>
          <a:p>
            <a:pPr marL="0" indent="0">
              <a:buNone/>
            </a:pPr>
            <a:r>
              <a:rPr lang="es-AR" sz="2400" b="1" dirty="0">
                <a:solidFill>
                  <a:srgbClr val="FF0000"/>
                </a:solidFill>
              </a:rPr>
              <a:t>        @JavascriptInterface</a:t>
            </a:r>
          </a:p>
          <a:p>
            <a:pPr marL="0" indent="0">
              <a:buNone/>
            </a:pPr>
            <a:r>
              <a:rPr lang="es-AR" sz="2400" b="1" dirty="0">
                <a:solidFill>
                  <a:srgbClr val="FF0000"/>
                </a:solidFill>
              </a:rPr>
              <a:t>        </a:t>
            </a:r>
            <a:r>
              <a:rPr lang="es-AR" sz="2400" b="1" dirty="0" err="1">
                <a:solidFill>
                  <a:srgbClr val="FF0000"/>
                </a:solidFill>
              </a:rPr>
              <a:t>fun</a:t>
            </a:r>
            <a:r>
              <a:rPr lang="es-AR" sz="2400" b="1" dirty="0">
                <a:solidFill>
                  <a:srgbClr val="FF0000"/>
                </a:solidFill>
              </a:rPr>
              <a:t> </a:t>
            </a:r>
            <a:r>
              <a:rPr lang="es-AR" sz="2400" b="1" dirty="0" err="1">
                <a:solidFill>
                  <a:srgbClr val="FF0000"/>
                </a:solidFill>
              </a:rPr>
              <a:t>closeApp</a:t>
            </a:r>
            <a:r>
              <a:rPr lang="es-AR" sz="2400" b="1" dirty="0">
                <a:solidFill>
                  <a:srgbClr val="FF0000"/>
                </a:solidFill>
              </a:rPr>
              <a:t>() {</a:t>
            </a:r>
          </a:p>
          <a:p>
            <a:pPr marL="0" indent="0">
              <a:buNone/>
            </a:pPr>
            <a:r>
              <a:rPr lang="es-AR" sz="2400" b="1" dirty="0">
                <a:solidFill>
                  <a:srgbClr val="FF0000"/>
                </a:solidFill>
              </a:rPr>
              <a:t>            </a:t>
            </a:r>
            <a:r>
              <a:rPr lang="es-AR" sz="2400" b="1" dirty="0" err="1">
                <a:solidFill>
                  <a:srgbClr val="FF0000"/>
                </a:solidFill>
              </a:rPr>
              <a:t>activity.finish</a:t>
            </a:r>
            <a:r>
              <a:rPr lang="es-AR" sz="2400" b="1" dirty="0">
                <a:solidFill>
                  <a:srgbClr val="FF0000"/>
                </a:solidFill>
              </a:rPr>
              <a:t>() // Cierra la </a:t>
            </a:r>
            <a:r>
              <a:rPr lang="es-AR" sz="2400" b="1" dirty="0" err="1">
                <a:solidFill>
                  <a:srgbClr val="FF0000"/>
                </a:solidFill>
              </a:rPr>
              <a:t>Activity</a:t>
            </a:r>
            <a:endParaRPr lang="es-AR" sz="24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s-AR" sz="2400" b="1" dirty="0">
                <a:solidFill>
                  <a:srgbClr val="FF0000"/>
                </a:solidFill>
              </a:rPr>
              <a:t>        }</a:t>
            </a:r>
          </a:p>
          <a:p>
            <a:pPr marL="0" indent="0">
              <a:buNone/>
            </a:pPr>
            <a:r>
              <a:rPr lang="es-AR" sz="2400" b="1" dirty="0">
                <a:solidFill>
                  <a:srgbClr val="FF0000"/>
                </a:solidFill>
              </a:rPr>
              <a:t>    }</a:t>
            </a:r>
          </a:p>
          <a:p>
            <a:pPr marL="0" indent="0">
              <a:buNone/>
            </a:pPr>
            <a:r>
              <a:rPr lang="es-AR" sz="2400" b="1" dirty="0">
                <a:solidFill>
                  <a:schemeClr val="tx1"/>
                </a:solidFill>
              </a:rPr>
              <a:t>En el </a:t>
            </a:r>
            <a:r>
              <a:rPr lang="es-AR" sz="2400" b="1" dirty="0" err="1">
                <a:solidFill>
                  <a:schemeClr val="tx1"/>
                </a:solidFill>
              </a:rPr>
              <a:t>html</a:t>
            </a:r>
            <a:r>
              <a:rPr lang="es-AR" sz="2400" b="1" dirty="0">
                <a:solidFill>
                  <a:schemeClr val="tx1"/>
                </a:solidFill>
              </a:rPr>
              <a:t> solo colocar el botón con la llamada.</a:t>
            </a:r>
          </a:p>
          <a:p>
            <a:pPr marL="0" indent="0">
              <a:buNone/>
            </a:pPr>
            <a:r>
              <a:rPr lang="es-AR" sz="2800" b="1" dirty="0">
                <a:solidFill>
                  <a:srgbClr val="FF0000"/>
                </a:solidFill>
              </a:rPr>
              <a:t>&lt;</a:t>
            </a:r>
            <a:r>
              <a:rPr lang="es-AR" sz="2800" b="1" dirty="0" err="1">
                <a:solidFill>
                  <a:srgbClr val="FF0000"/>
                </a:solidFill>
              </a:rPr>
              <a:t>button</a:t>
            </a:r>
            <a:r>
              <a:rPr lang="es-AR" sz="2800" b="1" dirty="0">
                <a:solidFill>
                  <a:srgbClr val="FF0000"/>
                </a:solidFill>
              </a:rPr>
              <a:t> </a:t>
            </a:r>
            <a:r>
              <a:rPr lang="es-AR" sz="2800" b="1" dirty="0" err="1">
                <a:solidFill>
                  <a:srgbClr val="FF0000"/>
                </a:solidFill>
              </a:rPr>
              <a:t>onclick</a:t>
            </a:r>
            <a:r>
              <a:rPr lang="es-AR" sz="2800" b="1" dirty="0">
                <a:solidFill>
                  <a:srgbClr val="FF0000"/>
                </a:solidFill>
              </a:rPr>
              <a:t>="</a:t>
            </a:r>
            <a:r>
              <a:rPr lang="es-AR" sz="2800" b="1" dirty="0" err="1">
                <a:solidFill>
                  <a:srgbClr val="FF0000"/>
                </a:solidFill>
              </a:rPr>
              <a:t>Android.closeApp</a:t>
            </a:r>
            <a:r>
              <a:rPr lang="es-AR" sz="2800" b="1" dirty="0">
                <a:solidFill>
                  <a:srgbClr val="FF0000"/>
                </a:solidFill>
              </a:rPr>
              <a:t>()"&gt;Cerrar App&lt;/</a:t>
            </a:r>
            <a:r>
              <a:rPr lang="es-AR" sz="2800" b="1" dirty="0" err="1">
                <a:solidFill>
                  <a:srgbClr val="FF0000"/>
                </a:solidFill>
              </a:rPr>
              <a:t>button</a:t>
            </a:r>
            <a:r>
              <a:rPr lang="es-AR" sz="2800" b="1" dirty="0">
                <a:solidFill>
                  <a:srgbClr val="FF0000"/>
                </a:solidFill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4207631389"/>
      </p:ext>
    </p:extLst>
  </p:cSld>
  <p:clrMapOvr>
    <a:masterClrMapping/>
  </p:clrMapOvr>
</p:sld>
</file>

<file path=ppt/theme/theme1.xml><?xml version="1.0" encoding="utf-8"?>
<a:theme xmlns:a="http://schemas.openxmlformats.org/drawingml/2006/main" name="Distintivo">
  <a:themeElements>
    <a:clrScheme name="Distintivo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Distintivo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stintivo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TM10001106[[fn=Distintivo]]</Template>
  <TotalTime>1796</TotalTime>
  <Words>1108</Words>
  <Application>Microsoft Office PowerPoint</Application>
  <PresentationFormat>Panorámica</PresentationFormat>
  <Paragraphs>107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Arial</vt:lpstr>
      <vt:lpstr>Arial Rounded MT Bold</vt:lpstr>
      <vt:lpstr>Courier New</vt:lpstr>
      <vt:lpstr>Gill Sans MT</vt:lpstr>
      <vt:lpstr>Impact</vt:lpstr>
      <vt:lpstr>Distintivo</vt:lpstr>
      <vt:lpstr>Kotlin</vt:lpstr>
      <vt:lpstr>WebApp</vt:lpstr>
      <vt:lpstr>La primer web app</vt:lpstr>
      <vt:lpstr>La primer web app</vt:lpstr>
      <vt:lpstr>Web app a travez de un link</vt:lpstr>
      <vt:lpstr>Web app a través de un link</vt:lpstr>
      <vt:lpstr>Web app a través de un link</vt:lpstr>
      <vt:lpstr>Web app a través de un link</vt:lpstr>
      <vt:lpstr>Web app a través de html,js,css</vt:lpstr>
      <vt:lpstr>Web app a través de html,js,css</vt:lpstr>
      <vt:lpstr>Web app a través de html,js,css</vt:lpstr>
      <vt:lpstr>Web app a través de html,js,css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Gustavo H Lafuente</dc:creator>
  <cp:lastModifiedBy>Gustavo H Lafuente</cp:lastModifiedBy>
  <cp:revision>11</cp:revision>
  <dcterms:created xsi:type="dcterms:W3CDTF">2025-08-13T19:00:04Z</dcterms:created>
  <dcterms:modified xsi:type="dcterms:W3CDTF">2026-09-02T19:37:33Z</dcterms:modified>
</cp:coreProperties>
</file>